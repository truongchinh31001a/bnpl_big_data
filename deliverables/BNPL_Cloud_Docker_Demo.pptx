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2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62e27edd44146cb" /><Relationship Type="http://schemas.openxmlformats.org/officeDocument/2006/relationships/extended-properties" Target="/docProps/app.xml" Id="Rde285da2571e48c5" /><Relationship Type="http://schemas.openxmlformats.org/officeDocument/2006/relationships/officeDocument" Target="/ppt/presentation.xml" Id="R2868b1896c4b4f2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db5f86fcff64e63"/>
  </p:sldMasterIdLst>
  <p:notesMasterIdLst>
    <p:notesMasterId xmlns:r="http://schemas.openxmlformats.org/officeDocument/2006/relationships" r:id="R26d3826ae0db424d"/>
  </p:notesMasterIdLst>
  <p:sldIdLst>
    <p:sldId xmlns:r="http://schemas.openxmlformats.org/officeDocument/2006/relationships" id="256" r:id="R8b156403e62e4332"/>
    <p:sldId xmlns:r="http://schemas.openxmlformats.org/officeDocument/2006/relationships" id="257" r:id="R366d5ad0e222452a"/>
    <p:sldId xmlns:r="http://schemas.openxmlformats.org/officeDocument/2006/relationships" id="258" r:id="Rc791dcddd53e47d6"/>
    <p:sldId xmlns:r="http://schemas.openxmlformats.org/officeDocument/2006/relationships" id="259" r:id="R307b6c33dbc34f1b"/>
    <p:sldId xmlns:r="http://schemas.openxmlformats.org/officeDocument/2006/relationships" id="260" r:id="R5663be50bc02485e"/>
    <p:sldId xmlns:r="http://schemas.openxmlformats.org/officeDocument/2006/relationships" id="261" r:id="R92dca9b4a8a64e71"/>
    <p:sldId xmlns:r="http://schemas.openxmlformats.org/officeDocument/2006/relationships" id="262" r:id="R163de26cecf14c4a"/>
    <p:sldId xmlns:r="http://schemas.openxmlformats.org/officeDocument/2006/relationships" id="263" r:id="Rc71299c6229941d6"/>
    <p:sldId xmlns:r="http://schemas.openxmlformats.org/officeDocument/2006/relationships" id="264" r:id="R59c5a991446b4149"/>
    <p:sldId xmlns:r="http://schemas.openxmlformats.org/officeDocument/2006/relationships" id="265" r:id="R0e7ca2093d24464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1b423ce5f0b4aeb" /><Relationship Type="http://schemas.openxmlformats.org/officeDocument/2006/relationships/slideMaster" Target="/ppt/slideMasters/slideMaster1.xml" Id="R9db5f86fcff64e63" /><Relationship Type="http://schemas.openxmlformats.org/officeDocument/2006/relationships/notesMaster" Target="/ppt/notesMasters/notesMaster1.xml" Id="R26d3826ae0db424d" /><Relationship Type="http://schemas.openxmlformats.org/officeDocument/2006/relationships/presProps" Target="/ppt/presProps.xml" Id="Rc554d251116d4f79" /><Relationship Type="http://schemas.openxmlformats.org/officeDocument/2006/relationships/tableStyles" Target="/ppt/tableStyles.xml" Id="Re71c8166e3684209" /><Relationship Type="http://schemas.openxmlformats.org/officeDocument/2006/relationships/slide" Target="/ppt/slides/slide1.xml" Id="R8b156403e62e4332" /><Relationship Type="http://schemas.openxmlformats.org/officeDocument/2006/relationships/slide" Target="/ppt/slides/slide2.xml" Id="R366d5ad0e222452a" /><Relationship Type="http://schemas.openxmlformats.org/officeDocument/2006/relationships/slide" Target="/ppt/slides/slide3.xml" Id="Rc791dcddd53e47d6" /><Relationship Type="http://schemas.openxmlformats.org/officeDocument/2006/relationships/slide" Target="/ppt/slides/slide4.xml" Id="R307b6c33dbc34f1b" /><Relationship Type="http://schemas.openxmlformats.org/officeDocument/2006/relationships/slide" Target="/ppt/slides/slide5.xml" Id="R5663be50bc02485e" /><Relationship Type="http://schemas.openxmlformats.org/officeDocument/2006/relationships/slide" Target="/ppt/slides/slide6.xml" Id="R92dca9b4a8a64e71" /><Relationship Type="http://schemas.openxmlformats.org/officeDocument/2006/relationships/slide" Target="/ppt/slides/slide7.xml" Id="R163de26cecf14c4a" /><Relationship Type="http://schemas.openxmlformats.org/officeDocument/2006/relationships/slide" Target="/ppt/slides/slide8.xml" Id="Rc71299c6229941d6" /><Relationship Type="http://schemas.openxmlformats.org/officeDocument/2006/relationships/slide" Target="/ppt/slides/slide9.xml" Id="R59c5a991446b4149" /><Relationship Type="http://schemas.openxmlformats.org/officeDocument/2006/relationships/slide" Target="/ppt/slides/slide10.xml" Id="R0e7ca2093d24464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d5f8257b4664c5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cae77ae4b984adf" /><Relationship Type="http://schemas.openxmlformats.org/officeDocument/2006/relationships/notesMaster" Target="/ppt/notesMasters/notesMaster1.xml" Id="Ra6bda7b235f0413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dde96dc2a0b436f" /><Relationship Type="http://schemas.openxmlformats.org/officeDocument/2006/relationships/notesMaster" Target="/ppt/notesMasters/notesMaster1.xml" Id="R7cfc907b54c74e4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7a0479672c6458c" /><Relationship Type="http://schemas.openxmlformats.org/officeDocument/2006/relationships/notesMaster" Target="/ppt/notesMasters/notesMaster1.xml" Id="R8eafa903b7d3419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a67a9e46b7640f1" /><Relationship Type="http://schemas.openxmlformats.org/officeDocument/2006/relationships/notesMaster" Target="/ppt/notesMasters/notesMaster1.xml" Id="R4b2a453c7a5d43e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873e7932d9b474a" /><Relationship Type="http://schemas.openxmlformats.org/officeDocument/2006/relationships/notesMaster" Target="/ppt/notesMasters/notesMaster1.xml" Id="Rc87617aaa8474bb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439715cfb1b4ccd" /><Relationship Type="http://schemas.openxmlformats.org/officeDocument/2006/relationships/notesMaster" Target="/ppt/notesMasters/notesMaster1.xml" Id="R1c68b364b2fd457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628165751c44bef" /><Relationship Type="http://schemas.openxmlformats.org/officeDocument/2006/relationships/notesMaster" Target="/ppt/notesMasters/notesMaster1.xml" Id="R99bd0446c3ea422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effc44469464031" /><Relationship Type="http://schemas.openxmlformats.org/officeDocument/2006/relationships/notesMaster" Target="/ppt/notesMasters/notesMaster1.xml" Id="R2455773d751b4c9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5cc338100b443ee" /><Relationship Type="http://schemas.openxmlformats.org/officeDocument/2006/relationships/notesMaster" Target="/ppt/notesMasters/notesMaster1.xml" Id="Rd087defcfb6e42c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331ecc6be504b53" /><Relationship Type="http://schemas.openxmlformats.org/officeDocument/2006/relationships/notesMaster" Target="/ppt/notesMasters/notesMaster1.xml" Id="R8b88ff2ee825476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Ảnh nền: dashboard Overview của project tại docs/evidence/powerbi/Overview.png.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README.md và docs/architecture.md của repository.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 sánh và khuyến nghị dựa trên kiến trúc project hiện tại và mục tiêu demo ngắn hạn.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 chính thức:</a:t>
            </a:r>
          </a:p>
          <a:p xmlns:a="http://schemas.openxmlformats.org/drawingml/2006/main">
            <a:r>
              <a:t>https://docs.cloud.google.com/dataproc-serverless/docs/overview</a:t>
            </a:r>
          </a:p>
          <a:p xmlns:a="http://schemas.openxmlformats.org/drawingml/2006/main">
            <a:r>
              <a:t>https://docs.cloud.google.com/managed-service-for-apache-kafka/docs/choose-kafka-pubsub</a:t>
            </a:r>
          </a:p>
          <a:p xmlns:a="http://schemas.openxmlformats.org/drawingml/2006/main">
            <a:r>
              <a:t>https://docs.cloud.google.com/bigquery/docs/introduction</a:t>
            </a:r>
          </a:p>
          <a:p xmlns:a="http://schemas.openxmlformats.org/drawingml/2006/main">
            <a:r>
              <a:t>https://docs.cloud.google.com/composer/docs/composer-3/composer-overview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 chính thức, truy cập 27/09/2026:</a:t>
            </a:r>
          </a:p>
          <a:p xmlns:a="http://schemas.openxmlformats.org/drawingml/2006/main">
            <a:r>
              <a:t>https://docs.cloud.google.com/free/docs/free-cloud-features</a:t>
            </a:r>
          </a:p>
          <a:p xmlns:a="http://schemas.openxmlformats.org/drawingml/2006/main">
            <a:r>
              <a:t>https://docs.cloud.google.com/billing/docs/how-to/edu-grants</a:t>
            </a:r>
          </a:p>
          <a:p xmlns:a="http://schemas.openxmlformats.org/drawingml/2006/main">
            <a:r>
              <a:t>https://cloud.google.com/bigquery/pricing</a:t>
            </a:r>
          </a:p>
          <a:p xmlns:a="http://schemas.openxmlformats.org/drawingml/2006/main">
            <a:r>
              <a:t>https://cloud.google.com/pubsub/pricing</a:t>
            </a:r>
          </a:p>
          <a:p xmlns:a="http://schemas.openxmlformats.org/drawingml/2006/main">
            <a:r>
              <a:t>https://cloud.google.com/managed-service-for-apache-kafka/pricing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docs/benchmark.md, docs/p1_evidence.md và docs/p3_evidence.md. Biểu đồ: docs/evidence/p1/benchmark_runtime.svg.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Thông số và đơn giá do người dùng cung cấp. Chi phí được tính bằng 9.000 VNĐ nhân số giờ.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Phân bổ đề xuất dựa trên docker-compose.yml, .env.example và tổng RAM 94 GB của server. Tổng biểu đồ bằng 94 GB.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Khuyến nghị mạng dựa trên các port và service trong docker-compose.yml.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Runbook chi tiết: docs/cloud_demo_deployment.md.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d9227fef6a43c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0f646b4e3e5438b" /><Relationship Type="http://schemas.openxmlformats.org/officeDocument/2006/relationships/slideLayout" Target="/ppt/slideLayouts/slideLayout1.xml" Id="R2663515c52eb462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663515c52eb462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d2f5606eeb47c3" /><Relationship Type="http://schemas.openxmlformats.org/officeDocument/2006/relationships/image" Target="/ppt/media/image.png" Id="Rc9f599cec42c49df" /><Relationship Type="http://schemas.openxmlformats.org/officeDocument/2006/relationships/notesSlide" Target="/ppt/notesSlides/notesSlide1.xml" Id="R66abc7d482fa464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3ee4d47e2c4039" /><Relationship Type="http://schemas.openxmlformats.org/officeDocument/2006/relationships/notesSlide" Target="/ppt/notesSlides/notesSlide2.xml" Id="R7077355c67f647d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394c8167e24d0c" /><Relationship Type="http://schemas.openxmlformats.org/officeDocument/2006/relationships/notesSlide" Target="/ppt/notesSlides/notesSlide3.xml" Id="Rb7f487f4046342f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32998358f74637" /><Relationship Type="http://schemas.openxmlformats.org/officeDocument/2006/relationships/notesSlide" Target="/ppt/notesSlides/notesSlide4.xml" Id="R6f36ef6babf1462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99a9f2c145441e" /><Relationship Type="http://schemas.openxmlformats.org/officeDocument/2006/relationships/notesSlide" Target="/ppt/notesSlides/notesSlide5.xml" Id="R6cf72242d582486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f22bd2d653451c" /><Relationship Type="http://schemas.openxmlformats.org/officeDocument/2006/relationships/image" Target="/ppt/media/image2.png" Id="R728cf4e2bb2c43f5" /><Relationship Type="http://schemas.openxmlformats.org/officeDocument/2006/relationships/notesSlide" Target="/ppt/notesSlides/notesSlide6.xml" Id="R36a31748b34b428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6e15b498df46a9" /><Relationship Type="http://schemas.openxmlformats.org/officeDocument/2006/relationships/chart" Target="/ppt/slides/charts/chart1.xml" Id="R045b9e7a7a83449f" /><Relationship Type="http://schemas.openxmlformats.org/officeDocument/2006/relationships/notesSlide" Target="/ppt/notesSlides/notesSlide7.xml" Id="R1fa922215da74f1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6f40b77c154f34" /><Relationship Type="http://schemas.openxmlformats.org/officeDocument/2006/relationships/chart" Target="/ppt/slides/charts/chart2.xml" Id="R475e2fc228f04cbf" /><Relationship Type="http://schemas.openxmlformats.org/officeDocument/2006/relationships/notesSlide" Target="/ppt/notesSlides/notesSlide8.xml" Id="Rfe2b56bc2e5343d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7fb4a2f58b4cc8" /><Relationship Type="http://schemas.openxmlformats.org/officeDocument/2006/relationships/notesSlide" Target="/ppt/notesSlides/notesSlide9.xml" Id="Ra49da0f81963459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960a46d64f4c34" /><Relationship Type="http://schemas.openxmlformats.org/officeDocument/2006/relationships/notesSlide" Target="/ppt/notesSlides/notesSlide10.xml" Id="R53b22f91ff444e97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Nghìn VNĐ</c:v>
          </c:tx>
          <c:spPr>
            <a:solidFill xmlns:a="http://schemas.openxmlformats.org/drawingml/2006/main">
              <a:srgbClr val="14877D"/>
            </a:solidFill>
          </c:spPr>
          <c:cat>
            <c:strRef>
              <c:f>'Chart Data'!$A$2:$A$5</c:f>
              <c:strCache>
                <c:ptCount val="4"/>
                <c:pt idx="0">
                  <c:v>3 giờ</c:v>
                </c:pt>
                <c:pt idx="1">
                  <c:v>8 giờ</c:v>
                </c:pt>
                <c:pt idx="2">
                  <c:v>24 giờ</c:v>
                </c:pt>
                <c:pt idx="3">
                  <c:v>3 ngày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27</c:v>
                </c:pt>
                <c:pt idx="1">
                  <c:v>72</c:v>
                </c:pt>
                <c:pt idx="2">
                  <c:v>216</c:v>
                </c:pt>
                <c:pt idx="3">
                  <c:v>648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1">
                  <a:solidFill>
                    <a:srgbClr val="17324D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2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EE5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F6B7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doughnutChart>
        <c:ser>
          <c:idx val="0"/>
          <c:order val="0"/>
          <c:tx>
            <c:v>GB</c:v>
          </c:tx>
          <c:dPt>
            <c:idx val="0"/>
            <c:spPr>
              <a:solidFill xmlns:a="http://schemas.openxmlformats.org/drawingml/2006/main">
                <a:srgbClr val="17324D"/>
              </a:solidFill>
            </c:spPr>
          </c:dPt>
          <c:dPt>
            <c:idx val="1"/>
            <c:spPr>
              <a:solidFill xmlns:a="http://schemas.openxmlformats.org/drawingml/2006/main">
                <a:srgbClr val="14877D"/>
              </a:solidFill>
            </c:spPr>
          </c:dPt>
          <c:dPt>
            <c:idx val="2"/>
            <c:spPr>
              <a:solidFill xmlns:a="http://schemas.openxmlformats.org/drawingml/2006/main">
                <a:srgbClr val="E8883A"/>
              </a:solidFill>
            </c:spPr>
          </c:dPt>
          <c:dPt>
            <c:idx val="3"/>
            <c:spPr>
              <a:solidFill xmlns:a="http://schemas.openxmlformats.org/drawingml/2006/main">
                <a:srgbClr val="6988A1"/>
              </a:solidFill>
            </c:spPr>
          </c:dPt>
          <c:dPt>
            <c:idx val="4"/>
            <c:spPr>
              <a:solidFill xmlns:a="http://schemas.openxmlformats.org/drawingml/2006/main">
                <a:srgbClr val="72A89C"/>
              </a:solidFill>
            </c:spPr>
          </c:dPt>
          <c:dPt>
            <c:idx val="5"/>
            <c:spPr>
              <a:solidFill xmlns:a="http://schemas.openxmlformats.org/drawingml/2006/main">
                <a:srgbClr val="AEB9C2"/>
              </a:solidFill>
            </c:spPr>
          </c:dPt>
          <c:dPt>
            <c:idx val="6"/>
            <c:spPr>
              <a:solidFill xmlns:a="http://schemas.openxmlformats.org/drawingml/2006/main">
                <a:srgbClr val="D8DEE4"/>
              </a:solidFill>
            </c:spPr>
          </c:dPt>
          <c:cat>
            <c:strRef>
              <c:f>'Chart Data'!$A$2:$A$8</c:f>
              <c:strCache>
                <c:ptCount val="7"/>
                <c:pt idx="0">
                  <c:v>Spark workers</c:v>
                </c:pt>
                <c:pt idx="1">
                  <c:v>Streaming drivers</c:v>
                </c:pt>
                <c:pt idx="2">
                  <c:v>Data services</c:v>
                </c:pt>
                <c:pt idx="3">
                  <c:v>Airflow</c:v>
                </c:pt>
                <c:pt idx="4">
                  <c:v>Monitoring</c:v>
                </c:pt>
                <c:pt idx="5">
                  <c:v>OS và cache</c:v>
                </c:pt>
                <c:pt idx="6">
                  <c:v>Dự phòng</c:v>
                </c:pt>
              </c:strCache>
            </c:strRef>
          </c:cat>
          <c:val>
            <c:numRef>
              <c:f>'Chart Data'!$B$2:$B$8</c:f>
              <c:numCache>
                <c:formatCode>General</c:formatCode>
                <c:ptCount val="7"/>
                <c:pt idx="0">
                  <c:v>40</c:v>
                </c:pt>
                <c:pt idx="1">
                  <c:v>10</c:v>
                </c:pt>
                <c:pt idx="2">
                  <c:v>6</c:v>
                </c:pt>
                <c:pt idx="3">
                  <c:v>4</c:v>
                </c:pt>
                <c:pt idx="4">
                  <c:v>3</c:v>
                </c:pt>
                <c:pt idx="5">
                  <c:v>16</c:v>
                </c:pt>
                <c:pt idx="6">
                  <c:v>15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FFFFFF"/>
                  </a:solidFill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firstSliceAng val="270"/>
        <c:holeSize val="58"/>
      </c:doughnutChart>
    </c:plotArea>
    <c:legend>
      <c:legendPos val="r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>
              <a:solidFill>
                <a:srgbClr val="17212B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324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f599cec42c49df"/>
          <a:srcRect xmlns:a="http://schemas.openxmlformats.org/drawingml/2006/main" l="23608" t="0" r="2360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429250" y="0"/>
            <a:ext cx="67627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4C29EF-48B8-4583-AB02-37223143B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715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4E1B0F-0412-41BE-8D8E-52A6E6B9A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428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73D2C7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73D2C7"/>
                </a:solidFill>
                <a:latin typeface="Arial"/>
                <a:ea typeface="Arial"/>
                <a:cs typeface="Arial"/>
              </a:rPr>
              <a:t>BNPL BIG DATA PLATFORM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D79D92-8617-483A-8DD8-9E5D7F2E0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9700"/>
            <a:ext cx="44767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94099"/>
          </a:bodyPr>
          <a:lstStyle xmlns:a="http://schemas.openxmlformats.org/drawingml/2006/main"/>
          <a:p xmlns:a="http://schemas.openxmlformats.org/drawingml/2006/main">
            <a:pPr algn="l">
              <a:defRPr sz="44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4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Phương án cloud</a:t>
            </a:r>
          </a:p>
          <a:p xmlns:a="http://schemas.openxmlformats.org/drawingml/2006/main">
            <a:pPr algn="l">
              <a:defRPr sz="44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4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và server Docker</a:t>
            </a:r>
          </a:p>
          <a:p xmlns:a="http://schemas.openxmlformats.org/drawingml/2006/main">
            <a:pPr algn="l">
              <a:defRPr sz="44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4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cho demo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C44C6B-7C0E-4C78-B9D0-A4E87912F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0"/>
            <a:ext cx="914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883A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AAA532-26A3-46A2-91FF-6B3557907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14850"/>
            <a:ext cx="4286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D8E6F0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D8E6F0"/>
                </a:solidFill>
                <a:latin typeface="Arial"/>
                <a:ea typeface="Arial"/>
                <a:cs typeface="Arial"/>
              </a:rPr>
              <a:t>Kiến trúc, chi phí, cấu hình và kịch bản trình bày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0EE442-DF68-4D68-AA70-264205109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150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B8CBD9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B8CBD9"/>
                </a:solidFill>
                <a:latin typeface="Arial"/>
                <a:ea typeface="Arial"/>
                <a:cs typeface="Arial"/>
              </a:rPr>
              <a:t>27.09.2026</a:t>
            </a:r>
          </a:p>
        </p:txBody>
      </p:sp>
    </p:spTree>
    <p:extLst>
      <p:ext uri="{BB962C8B-B14F-4D97-AF65-F5344CB8AC3E}">
        <p14:creationId xmlns:p14="http://schemas.microsoft.com/office/powerpoint/2010/main" val="194453248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9C388B9-5A34-4905-8B56-39548BF0E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4877D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4877D"/>
                </a:solidFill>
                <a:latin typeface="Arial"/>
                <a:ea typeface="Arial"/>
                <a:cs typeface="Arial"/>
              </a:rPr>
              <a:t>BNPL BIG DATA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32DE81-CA2C-4011-8248-450349DF7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3225" b="1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Nền tảng hiện có hai đường xử lý độc lập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18277E-62DE-49C1-9AD1-5974AE21A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28725"/>
            <a:ext cx="838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883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64C414-58C3-417C-B2E8-737FBA980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621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BATCH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CD059F-B638-4C8C-92E2-3F06421C7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766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4877D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4877D"/>
                </a:solidFill>
                <a:latin typeface="Arial"/>
                <a:ea typeface="Arial"/>
                <a:cs typeface="Arial"/>
              </a:rPr>
              <a:t>STREAMING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F2798B-9C56-4D46-BE3C-96D33F1DB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19300"/>
            <a:ext cx="13525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D7DEE5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FD467D-1AEF-4C67-8FEA-5C637C99A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19300"/>
            <a:ext cx="13525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Historical source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3C9530-DE34-4678-B3CD-A7BE85BBE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2200275"/>
            <a:ext cx="2286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883A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DB82AC-3625-4DC6-9437-4087D6EFB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019300"/>
            <a:ext cx="13525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D7DEE5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815878-479A-408F-B3C6-749287561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019300"/>
            <a:ext cx="13525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Staging Parquet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67AB85-3C8E-4F43-93C9-7B0CABB15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2200275"/>
            <a:ext cx="2286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883A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C6EE1C-CBE1-4CBE-A9D3-9F520E591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019300"/>
            <a:ext cx="13525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CECDD"/>
          </a:solidFill>
          <a:ln xmlns:a="http://schemas.openxmlformats.org/drawingml/2006/main" w="9525">
            <a:solidFill>
              <a:srgbClr val="D7DEE5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95F561-92BD-4533-BC95-747B3C7EA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019300"/>
            <a:ext cx="13525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Bronze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EA96AA-7431-4D6E-8C46-0F7C25216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2200275"/>
            <a:ext cx="2286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883A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64CA03-02EE-4F44-98CF-BBDF6430F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019300"/>
            <a:ext cx="13525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CECDD"/>
          </a:solidFill>
          <a:ln xmlns:a="http://schemas.openxmlformats.org/drawingml/2006/main" w="9525">
            <a:solidFill>
              <a:srgbClr val="D7DEE5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A4251A-38C9-49E0-AF06-D701BBA35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019300"/>
            <a:ext cx="13525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Quality Gate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75A5CF-672C-4116-A51E-47D7D9C42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2200275"/>
            <a:ext cx="2286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883A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6DFB07-7543-415E-A461-05D6645B1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019300"/>
            <a:ext cx="13525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DDF1EE"/>
          </a:solidFill>
          <a:ln xmlns:a="http://schemas.openxmlformats.org/drawingml/2006/main" w="9525">
            <a:solidFill>
              <a:srgbClr val="D7DEE5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17DC56-6137-4554-8486-1AADEF63D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019300"/>
            <a:ext cx="13525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Silver Delta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408DA0-5CF3-44D3-B250-1E5DAA084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2200275"/>
            <a:ext cx="2286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883A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E91879-3CAF-464C-B91C-E64630597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019300"/>
            <a:ext cx="13525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DDF1EE"/>
          </a:solidFill>
          <a:ln xmlns:a="http://schemas.openxmlformats.org/drawingml/2006/main" w="9525">
            <a:solidFill>
              <a:srgbClr val="D7DEE5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2D824E-2622-4E87-9DDB-A7D7A0E87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019300"/>
            <a:ext cx="13525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Gold + ML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17555C9-4A88-4699-8102-23D9F7267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2200275"/>
            <a:ext cx="2286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883A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2A4B923-C61E-4F19-8913-0864C0548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2019300"/>
            <a:ext cx="13525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D7DEE5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82FCC95-A9AE-406E-BC83-45784416B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2019300"/>
            <a:ext cx="13525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PostgreSQL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F71901C-0A6C-4401-A3D6-56855F24C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33850"/>
            <a:ext cx="13525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D7DEE5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04BD4B3-4ECA-4E45-9651-8AE6179A9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33850"/>
            <a:ext cx="13525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Fake producer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0C2DD9D-7FDD-46F4-8870-74C5AC465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4314825"/>
            <a:ext cx="2286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4877D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12BA90A-1E2B-4DF6-9274-F804E7C55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133850"/>
            <a:ext cx="13525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CECDD"/>
          </a:solidFill>
          <a:ln xmlns:a="http://schemas.openxmlformats.org/drawingml/2006/main" w="9525">
            <a:solidFill>
              <a:srgbClr val="D7DEE5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30829F0-D148-4CE2-AC8B-BE6B041F6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133850"/>
            <a:ext cx="13525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Kafka 6 partitions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48852A8-6D46-4FA8-AE41-57488B52E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4314825"/>
            <a:ext cx="2286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4877D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77ED742-7C24-4CA0-ABAF-FDDDF4437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133850"/>
            <a:ext cx="13525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DDF1EE"/>
          </a:solidFill>
          <a:ln xmlns:a="http://schemas.openxmlformats.org/drawingml/2006/main" w="9525">
            <a:solidFill>
              <a:srgbClr val="D7DEE5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6F42A81-E9A7-4AFA-8E0A-7C991539E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133850"/>
            <a:ext cx="13525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Spark streaming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B76E15B-4672-48D5-8067-3D9318DCE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4314825"/>
            <a:ext cx="2286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4877D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8EA8D28-A32F-4640-9233-29E0B144A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133850"/>
            <a:ext cx="13525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CECDD"/>
          </a:solidFill>
          <a:ln xmlns:a="http://schemas.openxmlformats.org/drawingml/2006/main" w="9525">
            <a:solidFill>
              <a:srgbClr val="D7DEE5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06D36EB-49C1-4953-AFB2-D54704668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133850"/>
            <a:ext cx="13525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Bronze raw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D67A964-423E-4525-AD8A-5D6868207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4314825"/>
            <a:ext cx="2286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4877D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F935F22-ECC0-402F-A70D-180633C93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133850"/>
            <a:ext cx="13525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DDF1EE"/>
          </a:solidFill>
          <a:ln xmlns:a="http://schemas.openxmlformats.org/drawingml/2006/main" w="9525">
            <a:solidFill>
              <a:srgbClr val="D7DEE5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E4C831D-1298-4C59-A181-9052ABFC7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133850"/>
            <a:ext cx="13525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Features + models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29020D7-8203-452B-BEBA-B124ABE43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4314825"/>
            <a:ext cx="2286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4877D"/>
          </a:solidFill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A0C854F-6250-44E8-A703-8800E0C71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133850"/>
            <a:ext cx="13525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DDF1EE"/>
          </a:solidFill>
          <a:ln xmlns:a="http://schemas.openxmlformats.org/drawingml/2006/main" w="9525">
            <a:solidFill>
              <a:srgbClr val="D7DEE5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947C766-BC1B-4BA8-90C0-CEC03BB41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133850"/>
            <a:ext cx="13525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30D / 90D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B287363-8775-492C-A19F-EA6D21171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4314825"/>
            <a:ext cx="2286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4877D"/>
          </a:solidFill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E50DB67-05C4-46CE-B6DE-A970F4E39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4133850"/>
            <a:ext cx="13525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D7DEE5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DEB7079-E48C-41D2-A4B8-A9226B07A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4133850"/>
            <a:ext cx="13525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PostgreSQL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412025A-E072-4A65-8E90-2A0C25ECA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57800"/>
            <a:ext cx="10706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Airflow điều phối batch. Hai Structured Streaming jobs chạy lâu dài dưới Docker Compose.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5AB9E3C-98C0-4B0D-AC60-D09CAD97E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532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F6B76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F6B76"/>
                </a:solidFill>
                <a:latin typeface="Arial"/>
                <a:ea typeface="Arial"/>
                <a:cs typeface="Arial"/>
              </a:rPr>
              <a:t>BNPL Big Data Platform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CF006A4-B9D0-46F4-93B1-5E9EA7CFA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F6B7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F6B76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62872304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225751-0E38-4179-800F-C1134FEA9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4877D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4877D"/>
                </a:solidFill>
                <a:latin typeface="Arial"/>
                <a:ea typeface="Arial"/>
                <a:cs typeface="Arial"/>
              </a:rPr>
              <a:t>BNPL BIG DATA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7ABA88-6F49-4AAF-84DF-2F60956CB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3225" b="1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Ba lựa chọn triển khai phục vụ ba mục tiêu khác nhau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3C97C4-B89A-4BC1-AF6D-9F9F9F437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28725"/>
            <a:ext cx="838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883A"/>
          </a:solidFill>
          <a:ln xmlns:a="http://schemas.openxmlformats.org/drawingml/2006/main" w="0">
            <a:noFill/>
          </a:ln>
        </p:spPr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85800" y="1695450"/>
          <a:ext xmlns:a="http://schemas.openxmlformats.org/drawingml/2006/main" cx="10820400" cy="2971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2286000"/>
                <a:gridCol w="1809750"/>
                <a:gridCol w="3143250"/>
                <a:gridCol w="1771650"/>
              </a:tblGrid>
              <a:tr h="7429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Phương án</a:t>
                      </a:r>
                    </a:p>
                  </a:txBody>
                  <a:tcPr marL="76200" marR="76200" marT="66675" marB="66675" anchor="ctr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Thay đổi</a:t>
                      </a:r>
                    </a:p>
                  </a:txBody>
                  <a:tcPr marL="76200" marR="76200" marT="66675" marB="66675" anchor="ctr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Chi phí</a:t>
                      </a:r>
                    </a:p>
                  </a:txBody>
                  <a:tcPr marL="76200" marR="76200" marT="66675" marB="66675" anchor="ctr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Chứng minh</a:t>
                      </a:r>
                    </a:p>
                  </a:txBody>
                  <a:tcPr marL="76200" marR="76200" marT="66675" marB="66675" anchor="ctr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Vai trò</a:t>
                      </a:r>
                    </a:p>
                  </a:txBody>
                  <a:tcPr marL="76200" marR="76200" marT="66675" marB="66675" anchor="ctr">
                    <a:solidFill>
                      <a:srgbClr val="17324D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Local Docker</a:t>
                      </a:r>
                    </a:p>
                  </a:txBody>
                  <a:tcPr marL="76200" marR="762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Không</a:t>
                      </a:r>
                    </a:p>
                  </a:txBody>
                  <a:tcPr marL="76200" marR="762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Thấp nhất</a:t>
                      </a:r>
                    </a:p>
                  </a:txBody>
                  <a:tcPr marL="76200" marR="762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Pipeline end to end</a:t>
                      </a:r>
                    </a:p>
                  </a:txBody>
                  <a:tcPr marL="76200" marR="762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Dự phòng</a:t>
                      </a:r>
                    </a:p>
                  </a:txBody>
                  <a:tcPr marL="76200" marR="76200" marT="66675" marB="66675" anchor="ctr"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Một server Docker</a:t>
                      </a:r>
                    </a:p>
                  </a:txBody>
                  <a:tcPr marL="76200" marR="76200" marT="66675" marB="66675" anchor="ctr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Cấu hình và bảo mật</a:t>
                      </a:r>
                    </a:p>
                  </a:txBody>
                  <a:tcPr marL="76200" marR="76200" marT="66675" marB="66675" anchor="ctr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Thấp khi thuê theo giờ</a:t>
                      </a:r>
                    </a:p>
                  </a:txBody>
                  <a:tcPr marL="76200" marR="76200" marT="66675" marB="66675" anchor="ctr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Demo online ổn định</a:t>
                      </a:r>
                    </a:p>
                  </a:txBody>
                  <a:tcPr marL="76200" marR="76200" marT="66675" marB="66675" anchor="ctr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Khuyến nghị</a:t>
                      </a:r>
                    </a:p>
                  </a:txBody>
                  <a:tcPr marL="76200" marR="76200" marT="66675" marB="66675" anchor="ctr">
                    <a:solidFill>
                      <a:srgbClr val="DDF1EE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Google Cloud managed</a:t>
                      </a:r>
                    </a:p>
                  </a:txBody>
                  <a:tcPr marL="76200" marR="762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Nhiều thành phần</a:t>
                      </a:r>
                    </a:p>
                  </a:txBody>
                  <a:tcPr marL="76200" marR="762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Cao hơn</a:t>
                      </a:r>
                    </a:p>
                  </a:txBody>
                  <a:tcPr marL="76200" marR="762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Tách compute/storage, multi-zone</a:t>
                      </a:r>
                    </a:p>
                  </a:txBody>
                  <a:tcPr marL="76200" marR="762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Kiến trúc đích</a:t>
                      </a:r>
                    </a:p>
                  </a:txBody>
                  <a:tcPr marL="76200" marR="76200" marT="66675" marB="66675" anchor="ctr">
                    <a:solidFill>
                      <a:srgbClr val="FCECDD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F68302-28B0-4EB3-BF48-7428F64E8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244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4877D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4877D"/>
                </a:solidFill>
                <a:latin typeface="Arial"/>
                <a:ea typeface="Arial"/>
                <a:cs typeface="Arial"/>
              </a:rPr>
              <a:t>Quyết định cho buổi bảo vệ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1C999D-794F-4EA7-B39D-A4990DD1C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86400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80419"/>
          </a:bodyPr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Thuê một server Linux trong ngày demo, giữ Google Cloud làm target architecture trong báo cáo.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BC19A1-CF20-4E76-B354-300A28804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532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F6B76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F6B76"/>
                </a:solidFill>
                <a:latin typeface="Arial"/>
                <a:ea typeface="Arial"/>
                <a:cs typeface="Arial"/>
              </a:rPr>
              <a:t>BNPL Big Data Platform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95B3DE-FFC9-4BE6-B8A5-D3EC79F6B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F6B7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F6B76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61068222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331516E-953A-4FAB-9492-B1983738C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4877D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4877D"/>
                </a:solidFill>
                <a:latin typeface="Arial"/>
                <a:ea typeface="Arial"/>
                <a:cs typeface="Arial"/>
              </a:rPr>
              <a:t>BNPL BIG DATA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8D8091-2484-4859-A1FD-041856CEC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3225" b="1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Kiến trúc đích trên Google Cloud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B31E46-2145-4143-AA04-6092A75D9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28725"/>
            <a:ext cx="838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883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7E5FE3-D5C7-4D02-A115-3EDA13307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38350"/>
            <a:ext cx="16192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D7DEE5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4A934E-CCDB-4531-BAA9-06458989B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38350"/>
            <a:ext cx="1619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Nguồn dữ liệu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5F190B-3B56-4273-833F-C44867F12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362200"/>
            <a:ext cx="333375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883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B3F7D6-CAFE-4B86-91A6-3FE35C763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038350"/>
            <a:ext cx="19621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CECDD"/>
          </a:solidFill>
          <a:ln xmlns:a="http://schemas.openxmlformats.org/drawingml/2006/main" w="9525">
            <a:solidFill>
              <a:srgbClr val="D7DEE5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DEF2C7-2F9A-4E0F-B671-E228A03B1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038350"/>
            <a:ext cx="19621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Cloud Storage</a:t>
            </a:r>
          </a:p>
          <a:p xmlns:a="http://schemas.openxmlformats.org/drawingml/2006/main">
            <a:pPr algn="ctr">
              <a:defRPr sz="1350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Bronze Silver Gold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5AA2B9-CAAA-44C5-8DDF-798208A69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362200"/>
            <a:ext cx="333375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883A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300837-1117-4D3A-8E7F-D8C7A0FB3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038350"/>
            <a:ext cx="20955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DDF1EE"/>
          </a:solidFill>
          <a:ln xmlns:a="http://schemas.openxmlformats.org/drawingml/2006/main" w="9525">
            <a:solidFill>
              <a:srgbClr val="D7DEE5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A9E758-81AD-4578-8C34-1A29E5CDB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038350"/>
            <a:ext cx="2095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Serverless Spark</a:t>
            </a:r>
          </a:p>
          <a:p xmlns:a="http://schemas.openxmlformats.org/drawingml/2006/main">
            <a:pPr algn="ctr">
              <a:defRPr sz="1350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Dataproc streaming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2042E8-4891-42C6-9160-726B8EA5D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362200"/>
            <a:ext cx="333375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4877D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D85FDD-335B-477C-8D72-FFAFB62B3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038350"/>
            <a:ext cx="16192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D7DEE5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32C0C4-6446-416F-B81C-6B15B98AB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038350"/>
            <a:ext cx="1619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BigQuery</a:t>
            </a:r>
          </a:p>
          <a:p xmlns:a="http://schemas.openxmlformats.org/drawingml/2006/main">
            <a:pPr algn="ctr">
              <a:defRPr sz="1350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Analytics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C0641B-375D-47B7-9AE6-3CC8A6CB1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362200"/>
            <a:ext cx="333375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4877D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9BDC8D-96B6-4478-87D9-7ED08FAFA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038350"/>
            <a:ext cx="16192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D7DEE5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244623-414C-417F-94AA-F692DF235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038350"/>
            <a:ext cx="1619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Cloud SQL</a:t>
            </a:r>
          </a:p>
          <a:p xmlns:a="http://schemas.openxmlformats.org/drawingml/2006/main">
            <a:pPr algn="ctr">
              <a:defRPr sz="1350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Prediction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3C366E-13BE-4FAC-B61B-4EFE40415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590925"/>
            <a:ext cx="590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Managed Kafka hoặc Pub/Sub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2F43E5-AE92-4EA8-826B-2CE9E6DAA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3815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4877D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4877D"/>
                </a:solidFill>
                <a:latin typeface="Arial"/>
                <a:ea typeface="Arial"/>
                <a:cs typeface="Arial"/>
              </a:rPr>
              <a:t>Giữ Kafka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AC69B8-6F56-4B4A-9623-7B6402F55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62500"/>
            <a:ext cx="4191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600"/>
              </a:spcAft>
              <a:buChar char="•"/>
              <a:defRPr sz="150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212B"/>
                </a:solidFill>
                <a:latin typeface="Arial"/>
                <a:ea typeface="Arial"/>
                <a:cs typeface="Arial"/>
              </a:rPr>
              <a:t>Giữ producer, Spark connector, partition và offset</a:t>
            </a:r>
          </a:p>
          <a:p xmlns:a="http://schemas.openxmlformats.org/drawingml/2006/main">
            <a:pPr marL="228600" indent="-114300">
              <a:spcAft>
                <a:spcPts val="600"/>
              </a:spcAft>
              <a:buChar char="•"/>
              <a:defRPr sz="150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212B"/>
                </a:solidFill>
                <a:latin typeface="Arial"/>
                <a:ea typeface="Arial"/>
                <a:cs typeface="Arial"/>
              </a:rPr>
              <a:t>Ít thay đổi code nhất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811F2A-E2A5-43EF-8DDE-E1D4D9B76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3815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E8883A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E8883A"/>
                </a:solidFill>
                <a:latin typeface="Arial"/>
                <a:ea typeface="Arial"/>
                <a:cs typeface="Arial"/>
              </a:rPr>
              <a:t>Chuyển sang Pub/Sub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0EF5F13-1EF7-42BB-B1CA-2F8382EA7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762500"/>
            <a:ext cx="4476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600"/>
              </a:spcAft>
              <a:buChar char="•"/>
              <a:defRPr sz="150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212B"/>
                </a:solidFill>
                <a:latin typeface="Arial"/>
                <a:ea typeface="Arial"/>
                <a:cs typeface="Arial"/>
              </a:rPr>
              <a:t>Serverless và pay per use</a:t>
            </a:r>
          </a:p>
          <a:p xmlns:a="http://schemas.openxmlformats.org/drawingml/2006/main">
            <a:pPr marL="228600" indent="-114300">
              <a:spcAft>
                <a:spcPts val="600"/>
              </a:spcAft>
              <a:buChar char="•"/>
              <a:defRPr sz="150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212B"/>
                </a:solidFill>
                <a:latin typeface="Arial"/>
                <a:ea typeface="Arial"/>
                <a:cs typeface="Arial"/>
              </a:rPr>
              <a:t>Phải viết lại producer, consumer và replay semantics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B425956-A31E-412C-9167-478516213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532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F6B76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F6B76"/>
                </a:solidFill>
                <a:latin typeface="Arial"/>
                <a:ea typeface="Arial"/>
                <a:cs typeface="Arial"/>
              </a:rPr>
              <a:t>BNPL Big Data Platform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C366452-BA48-494A-9C51-7A5AF6D1D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F6B7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F6B76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91547249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1A2EA11-0FF4-49F1-BA65-7AFA3A2E6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4877D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4877D"/>
                </a:solidFill>
                <a:latin typeface="Arial"/>
                <a:ea typeface="Arial"/>
                <a:cs typeface="Arial"/>
              </a:rPr>
              <a:t>BNPL BIG DATA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D0BBB5-022C-4A1A-BDED-EB9ED110A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3225" b="1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Free tier phù hợp với thử nghiệm nhỏ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AA9BB4-7E7E-4D2D-A74E-659C5EB9B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28725"/>
            <a:ext cx="838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883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CEF30F-FE6A-4125-8A99-308CACE8A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47850"/>
            <a:ext cx="238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600" b="1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300 USD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81E361-3CBB-4C36-ACC8-9FA8C2975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146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Free Trial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827D6E-44E8-4B30-84F6-89FD77BE2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956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5F6B76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F6B76"/>
                </a:solidFill>
                <a:latin typeface="Arial"/>
                <a:ea typeface="Arial"/>
                <a:cs typeface="Arial"/>
              </a:rPr>
              <a:t>90 ngày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336AE7-CF07-4C63-B09C-BE2DFCDBE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09750"/>
            <a:ext cx="952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5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BD7153-BB28-4702-B783-7E37ABB2D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847850"/>
            <a:ext cx="238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600" b="1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1 TiB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084C1A-8C38-4EB8-8BFF-A65E0E192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5146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BigQuery query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D92579-B507-434F-84F8-A3EED2513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8956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5F6B76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F6B76"/>
                </a:solidFill>
                <a:latin typeface="Arial"/>
                <a:ea typeface="Arial"/>
                <a:cs typeface="Arial"/>
              </a:rPr>
              <a:t>mỗi tháng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CC0C6B-0082-435E-96AC-A7B039B6E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809750"/>
            <a:ext cx="952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E08D78-1E5D-448B-873C-3FB146253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847850"/>
            <a:ext cx="238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600" b="1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10 GiB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3CD0D2-A87E-4567-B654-514B7A4E8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5146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Pub/Sub throughput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41FBCF-6EDC-480D-8A24-8ACE4AF3E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8956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5F6B76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F6B76"/>
                </a:solidFill>
                <a:latin typeface="Arial"/>
                <a:ea typeface="Arial"/>
                <a:cs typeface="Arial"/>
              </a:rPr>
              <a:t>mỗi tháng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E40250-BD35-4AED-BA68-9ED2C2892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809750"/>
            <a:ext cx="952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5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FF909D-9031-4EDC-B8C0-B7FB553DB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847850"/>
            <a:ext cx="238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600" b="1" i="0">
                <a:solidFill>
                  <a:srgbClr val="E8883A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E8883A"/>
                </a:solidFill>
                <a:latin typeface="Arial"/>
                <a:ea typeface="Arial"/>
                <a:cs typeface="Arial"/>
              </a:rPr>
              <a:t>50 USD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403754-9773-45D2-B5FF-00D643A9A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5146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Education Credit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1C450D-BC54-4721-AD0F-E25730676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8956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5F6B76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F6B76"/>
                </a:solidFill>
                <a:latin typeface="Arial"/>
                <a:ea typeface="Arial"/>
                <a:cs typeface="Arial"/>
              </a:rPr>
              <a:t>tối đa mỗi sinh viên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D165E1-1016-404B-90E7-BE5758CF6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5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42D95D-3281-4D4D-A75F-D2A365191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7195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B74A4A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B74A4A"/>
                </a:solidFill>
                <a:latin typeface="Arial"/>
                <a:ea typeface="Arial"/>
                <a:cs typeface="Arial"/>
              </a:rPr>
              <a:t>Dịch vụ cần tránh bật lâu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7FB718-E397-40CF-A35E-437B05FDE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10668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725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212B"/>
                </a:solidFill>
                <a:latin typeface="Arial"/>
                <a:ea typeface="Arial"/>
                <a:cs typeface="Arial"/>
              </a:rPr>
              <a:t>Managed Kafka trả theo capacity, storage và network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725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212B"/>
                </a:solidFill>
                <a:latin typeface="Arial"/>
                <a:ea typeface="Arial"/>
                <a:cs typeface="Arial"/>
              </a:rPr>
              <a:t>Managed Airflow và Cloud SQL vẫn có chi phí khi không có job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725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212B"/>
                </a:solidFill>
                <a:latin typeface="Arial"/>
                <a:ea typeface="Arial"/>
                <a:cs typeface="Arial"/>
              </a:rPr>
              <a:t>Email trường chỉ dùng để xác minh sau khi giảng viên hoặc trường được duyệt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98B790-39CF-4B7F-94E9-BC3024EF5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532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F6B76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F6B76"/>
                </a:solidFill>
                <a:latin typeface="Arial"/>
                <a:ea typeface="Arial"/>
                <a:cs typeface="Arial"/>
              </a:rPr>
              <a:t>BNPL Big Data Platform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BF9F027-2EE8-49E9-B163-F25A761B5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F6B7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F6B76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97047407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B6EA37-E35B-4849-B356-89170F422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4877D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4877D"/>
                </a:solidFill>
                <a:latin typeface="Arial"/>
                <a:ea typeface="Arial"/>
                <a:cs typeface="Arial"/>
              </a:rPr>
              <a:t>BNPL BIG DATA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F7C560-063A-45AE-91FB-0868C888D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3225" b="1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Một server vẫn là single node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64D2D9-0EA6-46AD-B8B0-355B2EE27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28725"/>
            <a:ext cx="838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883A"/>
          </a:solidFill>
          <a:ln xmlns:a="http://schemas.openxmlformats.org/drawingml/2006/main" w="0">
            <a:noFill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8cf4e2bb2c43f5"/>
          <a:stretch xmlns:a="http://schemas.openxmlformats.org/drawingml/2006/main"/>
        </p:blipFill>
        <p:spPr>
          <a:xfrm xmlns:a="http://schemas.openxmlformats.org/drawingml/2006/main">
            <a:off x="590550" y="1666875"/>
            <a:ext cx="6858000" cy="4000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234435-A5C2-4C27-9412-F3323CCBB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73355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4877D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4877D"/>
                </a:solidFill>
                <a:latin typeface="Arial"/>
                <a:ea typeface="Arial"/>
                <a:cs typeface="Arial"/>
              </a:rPr>
              <a:t>Bằng chứng hiện có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737A25-7A8C-4ED8-9577-4DBCACEB6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171700"/>
            <a:ext cx="3667125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575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212B"/>
                </a:solidFill>
                <a:latin typeface="Arial"/>
                <a:ea typeface="Arial"/>
                <a:cs typeface="Arial"/>
              </a:rPr>
              <a:t>Hai worker local dùng chung Docker host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575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212B"/>
                </a:solidFill>
                <a:latin typeface="Arial"/>
                <a:ea typeface="Arial"/>
                <a:cs typeface="Arial"/>
              </a:rPr>
              <a:t>Một worker nhanh hơn trong benchmark do shared CPU, disk và MinIO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575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212B"/>
                </a:solidFill>
                <a:latin typeface="Arial"/>
                <a:ea typeface="Arial"/>
                <a:cs typeface="Arial"/>
              </a:rPr>
              <a:t>VPS mạnh làm demo ổn định hơn nhưng vẫn là một failure domain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7034ED-6937-495B-A91C-5807AED45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5529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E8883A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E8883A"/>
                </a:solidFill>
                <a:latin typeface="Arial"/>
                <a:ea typeface="Arial"/>
                <a:cs typeface="Arial"/>
              </a:rPr>
              <a:t>Cách gọi đúng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3AE4FA-26CA-4648-984A-483D9EB7E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857750"/>
            <a:ext cx="361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Single-node cloud deployment với logical distributed processing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39FD80-E276-413F-A344-5319B9224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532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F6B76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F6B76"/>
                </a:solidFill>
                <a:latin typeface="Arial"/>
                <a:ea typeface="Arial"/>
                <a:cs typeface="Arial"/>
              </a:rPr>
              <a:t>BNPL Big Data Platform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14FB27-904C-42F8-AE7A-1BB307591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F6B7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F6B76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45542262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5E3CCF-1B03-4D13-A834-79BEDB31D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4877D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4877D"/>
                </a:solidFill>
                <a:latin typeface="Arial"/>
                <a:ea typeface="Arial"/>
                <a:cs typeface="Arial"/>
              </a:rPr>
              <a:t>BNPL BIG DATA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B1C3C1-B4E0-462C-886D-7D7604028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3225" b="1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Máy V100 đủ sức chạy toàn bộ stack trong ngày demo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7A5F83-B1FC-42E0-8D72-CB29CFD63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28725"/>
            <a:ext cx="838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883A"/>
          </a:solidFill>
          <a:ln xmlns:a="http://schemas.openxmlformats.org/drawingml/2006/main" w="0">
            <a:noFill/>
          </a:ln>
        </p:spPr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647700" y="1676400"/>
          <a:ext xmlns:a="http://schemas.openxmlformats.org/drawingml/2006/main" cx="59055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381125"/>
                <a:gridCol w="1809750"/>
                <a:gridCol w="2714625"/>
              </a:tblGrid>
              <a:tr h="619125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Tài nguyên</a:t>
                      </a:r>
                    </a:p>
                  </a:txBody>
                  <a:tcPr marL="76200" marR="76200" marT="66675" marB="66675" anchor="ctr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Thông số</a:t>
                      </a:r>
                    </a:p>
                  </a:txBody>
                  <a:tcPr marL="76200" marR="76200" marT="66675" marB="66675" anchor="ctr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Ý nghĩa</a:t>
                      </a:r>
                    </a:p>
                  </a:txBody>
                  <a:tcPr marL="76200" marR="76200" marT="66675" marB="66675" anchor="ctr">
                    <a:solidFill>
                      <a:srgbClr val="17324D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CPU</a:t>
                      </a:r>
                    </a:p>
                  </a:txBody>
                  <a:tcPr marL="76200" marR="762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10 cores</a:t>
                      </a:r>
                    </a:p>
                  </a:txBody>
                  <a:tcPr marL="76200" marR="762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Hai Spark workers</a:t>
                      </a:r>
                    </a:p>
                  </a:txBody>
                  <a:tcPr marL="76200" marR="76200" marT="66675" marB="66675" anchor="ctr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RAM</a:t>
                      </a:r>
                    </a:p>
                  </a:txBody>
                  <a:tcPr marL="76200" marR="76200" marT="66675" marB="66675" anchor="ctr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94 GB</a:t>
                      </a:r>
                    </a:p>
                  </a:txBody>
                  <a:tcPr marL="76200" marR="76200" marT="66675" marB="66675" anchor="ctr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Dư cho batch và streaming</a:t>
                      </a:r>
                    </a:p>
                  </a:txBody>
                  <a:tcPr marL="76200" marR="76200" marT="66675" marB="66675" anchor="ctr">
                    <a:solidFill>
                      <a:srgbClr val="F3F6F8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Disk</a:t>
                      </a:r>
                    </a:p>
                  </a:txBody>
                  <a:tcPr marL="76200" marR="762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890 GB</a:t>
                      </a:r>
                    </a:p>
                  </a:txBody>
                  <a:tcPr marL="76200" marR="762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Images, MinIO và Delta</a:t>
                      </a:r>
                    </a:p>
                  </a:txBody>
                  <a:tcPr marL="76200" marR="76200" marT="66675" marB="66675" anchor="ctr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Read / Write</a:t>
                      </a:r>
                    </a:p>
                  </a:txBody>
                  <a:tcPr marL="76200" marR="76200" marT="66675" marB="66675" anchor="ctr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2,377 / 1,081 MB/s</a:t>
                      </a:r>
                    </a:p>
                  </a:txBody>
                  <a:tcPr marL="76200" marR="76200" marT="66675" marB="66675" anchor="ctr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Tốt cho Parquet và shuffle</a:t>
                      </a:r>
                    </a:p>
                  </a:txBody>
                  <a:tcPr marL="76200" marR="76200" marT="66675" marB="66675" anchor="ctr">
                    <a:solidFill>
                      <a:srgbClr val="F3F6F8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GPU</a:t>
                      </a:r>
                    </a:p>
                  </a:txBody>
                  <a:tcPr marL="76200" marR="762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V100 32 GB</a:t>
                      </a:r>
                    </a:p>
                  </a:txBody>
                  <a:tcPr marL="76200" marR="762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Code hiện tại chưa sử dụng</a:t>
                      </a:r>
                    </a:p>
                  </a:txBody>
                  <a:tcPr marL="76200" marR="76200" marT="66675" marB="66675" anchor="ctr">
                    <a:solidFill>
                      <a:srgbClr val="FCECDD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7000875" y="1695450"/>
          <a:ext xmlns:a="http://schemas.openxmlformats.org/drawingml/2006/main" cx="4476750" cy="33718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45b9e7a7a83449f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6D227A-E196-41D3-A050-B7C68B5E3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14350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Chi phí ở mức 9.000 VNĐ mỗi giờ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4D497D-1A44-4E3E-ACF8-C99C69888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5562600"/>
            <a:ext cx="424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E8883A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E8883A"/>
                </a:solidFill>
                <a:latin typeface="Arial"/>
                <a:ea typeface="Arial"/>
                <a:cs typeface="Arial"/>
              </a:rPr>
              <a:t>GPU không phải lý do chính để thuê máy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A87150-6C66-4558-BBD2-E63C380A2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532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F6B76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F6B76"/>
                </a:solidFill>
                <a:latin typeface="Arial"/>
                <a:ea typeface="Arial"/>
                <a:cs typeface="Arial"/>
              </a:rPr>
              <a:t>BNPL Big Data Platform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75CDAA-6C34-4ACC-A302-7BE169312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F6B7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F6B76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7927075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377AC5-3396-4EF6-8CC6-FC911787B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4877D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4877D"/>
                </a:solidFill>
                <a:latin typeface="Arial"/>
                <a:ea typeface="Arial"/>
                <a:cs typeface="Arial"/>
              </a:rPr>
              <a:t>BNPL BIG DATA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C3C7C2-C7D7-4B79-BCF8-198E56224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3225" b="1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Phân bổ 94 GB RAM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F91FEC-B164-4193-B477-B9ACA9184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28725"/>
            <a:ext cx="838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883A"/>
          </a:solidFill>
          <a:ln xmlns:a="http://schemas.openxmlformats.org/drawingml/2006/main" w="0">
            <a:noFill/>
          </a:ln>
        </p:spPr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457200" y="1524000"/>
          <a:ext xmlns:a="http://schemas.openxmlformats.org/drawingml/2006/main" cx="6477000" cy="4476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75e2fc228f04cbf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F8A268-3BA7-4CB8-81B4-5E0F27F67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7907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4877D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4877D"/>
                </a:solidFill>
                <a:latin typeface="Arial"/>
                <a:ea typeface="Arial"/>
                <a:cs typeface="Arial"/>
              </a:rPr>
              <a:t>Thiết lập demo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363BB1-3251-4B54-A1FB-D1BC0A4A0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247900"/>
            <a:ext cx="401955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D7DEE5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C35FE2-BAC9-4020-8FA3-5302F27B9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419350"/>
            <a:ext cx="36766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SPARK_WORKER_REPLICAS=2</a:t>
            </a:r>
          </a:p>
          <a:p xmlns:a="http://schemas.openxmlformats.org/drawingml/2006/main">
            <a:pPr algn="l">
              <a:defRPr sz="1500" b="1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SPARK_WORKER_CORES=3</a:t>
            </a:r>
          </a:p>
          <a:p xmlns:a="http://schemas.openxmlformats.org/drawingml/2006/main">
            <a:pPr algn="l">
              <a:defRPr sz="1500" b="1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SPARK_WORKER_MEMORY=20G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3EF65E-A624-4538-97D0-09D41EFD7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0005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E8883A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E8883A"/>
                </a:solidFill>
                <a:latin typeface="Arial"/>
                <a:ea typeface="Arial"/>
                <a:cs typeface="Arial"/>
              </a:rPr>
              <a:t>Khi benchmark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E2421C-2A2A-4592-82BB-3B6A3C9FA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438650"/>
            <a:ext cx="409575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600"/>
              </a:spcAft>
              <a:buChar char="•"/>
              <a:defRPr sz="150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212B"/>
                </a:solidFill>
                <a:latin typeface="Arial"/>
                <a:ea typeface="Arial"/>
                <a:cs typeface="Arial"/>
              </a:rPr>
              <a:t>Dừng producer, streaming và monitoring</a:t>
            </a:r>
          </a:p>
          <a:p xmlns:a="http://schemas.openxmlformats.org/drawingml/2006/main">
            <a:pPr marL="228600" indent="-114300">
              <a:spcAft>
                <a:spcPts val="600"/>
              </a:spcAft>
              <a:buChar char="•"/>
              <a:defRPr sz="150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212B"/>
                </a:solidFill>
                <a:latin typeface="Arial"/>
                <a:ea typeface="Arial"/>
                <a:cs typeface="Arial"/>
              </a:rPr>
              <a:t>Có thể nâng mỗi worker lên 4 cores và 28 GB</a:t>
            </a:r>
          </a:p>
          <a:p xmlns:a="http://schemas.openxmlformats.org/drawingml/2006/main">
            <a:pPr marL="228600" indent="-114300">
              <a:spcAft>
                <a:spcPts val="600"/>
              </a:spcAft>
              <a:buChar char="•"/>
              <a:defRPr sz="150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212B"/>
                </a:solidFill>
                <a:latin typeface="Arial"/>
                <a:ea typeface="Arial"/>
                <a:cs typeface="Arial"/>
              </a:rPr>
              <a:t>Không chạy full matrix trong lúc thuyết trình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FEE8B9-77D1-4E16-94B4-C678C9F8B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532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F6B76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F6B76"/>
                </a:solidFill>
                <a:latin typeface="Arial"/>
                <a:ea typeface="Arial"/>
                <a:cs typeface="Arial"/>
              </a:rPr>
              <a:t>BNPL Big Data Platform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38380C-433A-4077-8656-C51C5B40D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F6B7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F6B76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05789936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25370C-8432-4CDC-8C94-BCB818596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4877D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4877D"/>
                </a:solidFill>
                <a:latin typeface="Arial"/>
                <a:ea typeface="Arial"/>
                <a:cs typeface="Arial"/>
              </a:rPr>
              <a:t>BNPL BIG DATA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73AD0B-7B24-4F1D-8E71-B087C0BBB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3225" b="1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Public exposure dừng ở HTTPS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B099EF-E059-45EC-9365-937FCC454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28725"/>
            <a:ext cx="838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883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1265C1-8F4A-4357-B84E-2371AC12A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38350"/>
            <a:ext cx="14287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D7DEE5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CD22D4-37CD-4577-84BC-21EBCD50D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38350"/>
            <a:ext cx="1428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Internet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091701-C8E1-4976-AB64-EA1544DA1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286000"/>
            <a:ext cx="47625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883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65E025-89C0-4207-933E-21B20A9F7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1885950"/>
            <a:ext cx="22860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CECDD"/>
          </a:solidFill>
          <a:ln xmlns:a="http://schemas.openxmlformats.org/drawingml/2006/main" w="9525">
            <a:solidFill>
              <a:srgbClr val="D7DEE5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EE1FBE-6238-479A-9289-7AFACB068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1885950"/>
            <a:ext cx="2286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Nginx hoặc Caddy</a:t>
            </a:r>
          </a:p>
          <a:p xmlns:a="http://schemas.openxmlformats.org/drawingml/2006/main">
            <a:pPr algn="ctr">
              <a:defRPr sz="1350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TLS + authentication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17ADF3-2342-4980-AEA0-D95080183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286000"/>
            <a:ext cx="47625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4877D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67F55C-6921-46D4-BCD7-B0805D09D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790700"/>
            <a:ext cx="200025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DDF1EE"/>
          </a:solidFill>
          <a:ln xmlns:a="http://schemas.openxmlformats.org/drawingml/2006/main" w="9525">
            <a:solidFill>
              <a:srgbClr val="D7DEE5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AC4DA0-3892-40A9-AA1F-D147564AD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790700"/>
            <a:ext cx="2000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Airflow</a:t>
            </a:r>
          </a:p>
          <a:p xmlns:a="http://schemas.openxmlformats.org/drawingml/2006/main">
            <a:pPr algn="ctr">
              <a:defRPr sz="1350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Grafana</a:t>
            </a:r>
          </a:p>
          <a:p xmlns:a="http://schemas.openxmlformats.org/drawingml/2006/main">
            <a:pPr algn="ctr">
              <a:defRPr sz="1350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Redpanda Console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0B8825-2849-4052-9301-FC89E4231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52800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Chỉ mở 22, 80 và 443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D1647E-FA65-4287-83C5-3931AA71C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7239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575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212B"/>
                </a:solidFill>
                <a:latin typeface="Arial"/>
                <a:ea typeface="Arial"/>
                <a:cs typeface="Arial"/>
              </a:rPr>
              <a:t>PostgreSQL, MinIO, Kafka, Spark RPC và Prometheus ở trong Docker network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575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212B"/>
                </a:solidFill>
                <a:latin typeface="Arial"/>
                <a:ea typeface="Arial"/>
                <a:cs typeface="Arial"/>
              </a:rPr>
              <a:t>Dùng SSH key, password mới, firewall và Docker log rotation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575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212B"/>
                </a:solidFill>
                <a:latin typeface="Arial"/>
                <a:ea typeface="Arial"/>
                <a:cs typeface="Arial"/>
              </a:rPr>
              <a:t>Backup volume trước demo; xóa server, disk và IP sau demo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95B540-74CE-4823-983F-D23094CC4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619250"/>
            <a:ext cx="3238500" cy="409575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D7DEE5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33B5F8-EA7D-49EE-A488-DC52F31B0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8859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14877D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4877D"/>
                </a:solidFill>
                <a:latin typeface="Arial"/>
                <a:ea typeface="Arial"/>
                <a:cs typeface="Arial"/>
              </a:rPr>
              <a:t>DOCKER INTERNAL NETWORK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E68736-CF53-4C57-AAA9-80D062291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419350"/>
            <a:ext cx="2438400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PostgreSQL</a:t>
            </a:r>
          </a:p>
          <a:p xmlns:a="http://schemas.openxmlformats.org/drawingml/2006/main">
            <a:pPr algn="ctr">
              <a:defRPr sz="1875" b="1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MinIO</a:t>
            </a:r>
          </a:p>
          <a:p xmlns:a="http://schemas.openxmlformats.org/drawingml/2006/main">
            <a:pPr algn="ctr">
              <a:defRPr sz="1875" b="1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Redpanda</a:t>
            </a:r>
          </a:p>
          <a:p xmlns:a="http://schemas.openxmlformats.org/drawingml/2006/main">
            <a:pPr algn="ctr">
              <a:defRPr sz="1875" b="1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Spark master / workers</a:t>
            </a:r>
          </a:p>
          <a:p xmlns:a="http://schemas.openxmlformats.org/drawingml/2006/main">
            <a:pPr algn="ctr">
              <a:defRPr sz="1875" b="1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Prometheus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016C05-8EFF-40BE-B0F7-988088A46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991100"/>
            <a:ext cx="2705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E8883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E8883A"/>
                </a:solidFill>
                <a:latin typeface="Arial"/>
                <a:ea typeface="Arial"/>
                <a:cs typeface="Arial"/>
              </a:rPr>
              <a:t>Không public port dịch vụ dữ liệu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4DBFE4-D447-4825-BEEE-543BE7654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532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F6B76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F6B76"/>
                </a:solidFill>
                <a:latin typeface="Arial"/>
                <a:ea typeface="Arial"/>
                <a:cs typeface="Arial"/>
              </a:rPr>
              <a:t>BNPL Big Data Platform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F037B0-380A-4365-93C8-471DC0FE1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F6B7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F6B76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31564589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09724C4-B6A8-4211-8723-0F714EDA7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4877D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4877D"/>
                </a:solidFill>
                <a:latin typeface="Arial"/>
                <a:ea typeface="Arial"/>
                <a:cs typeface="Arial"/>
              </a:rPr>
              <a:t>BNPL BIG DATA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786065-D3C0-44B1-96E5-E388051B9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3225" b="1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Kịch bản demo ổn định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75823E-6745-4F47-9DB2-0F8656BAE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28725"/>
            <a:ext cx="838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883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E1E05D-1CC8-4270-9523-851B630A0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5524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8883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4513F2-B149-4C9E-A8B4-1286E96BD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D8B4A7-4C8E-451E-A7FC-3C057F0FC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985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Chuẩn bị trước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034E42-269B-40EA-9267-7DD4D654D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180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5F6B76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F6B76"/>
                </a:solidFill>
                <a:latin typeface="Arial"/>
                <a:ea typeface="Arial"/>
                <a:cs typeface="Arial"/>
              </a:rPr>
              <a:t>Batch, model và dữ liệu sẵn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0F567B-28C1-402D-B504-6A67794AE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66925"/>
            <a:ext cx="1371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5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6B71E2-4CDD-494A-9010-A9A84EFF7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1809750"/>
            <a:ext cx="5524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4877D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ECD1F6-9E6F-4D83-9C03-6F5ECB247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1809750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1182B1-497D-43D8-BFB0-2C193A470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260985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Phát event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9AAAD8-0A64-4857-9C63-B09367C31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3028950"/>
            <a:ext cx="180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5F6B76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F6B76"/>
                </a:solidFill>
                <a:latin typeface="Arial"/>
                <a:ea typeface="Arial"/>
                <a:cs typeface="Arial"/>
              </a:rPr>
              <a:t>Sáu Kafka partitions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7B93CA-EE53-487D-8B25-8A11AD906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2066925"/>
            <a:ext cx="1371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5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1BB8E9-4B42-429D-B6FE-D03BDABB9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809750"/>
            <a:ext cx="5524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4877D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16FB5C-E9DE-4610-8F1E-55CE5BA98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809750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EC4702-2C02-4BD9-908E-83062CBBC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60985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Xử lý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5F2F00-FE42-4766-8B38-11510CA85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028950"/>
            <a:ext cx="180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5F6B76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F6B76"/>
                </a:solidFill>
                <a:latin typeface="Arial"/>
                <a:ea typeface="Arial"/>
                <a:cs typeface="Arial"/>
              </a:rPr>
              <a:t>Spark micro-batch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B370BD-3AEF-4BD9-95B1-1EB852168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066925"/>
            <a:ext cx="1371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5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F6AC6C-A861-4FF5-BBE2-DA1B4EB14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1809750"/>
            <a:ext cx="5524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4877D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EA948D-E71B-44BD-B5C6-7CC2C3377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1809750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6CC6D5-7F81-49C4-A47D-83AFAE903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260985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Kết quả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E1FD58-5A2C-470F-964A-11F44F628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3028950"/>
            <a:ext cx="180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5F6B76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F6B76"/>
                </a:solidFill>
                <a:latin typeface="Arial"/>
                <a:ea typeface="Arial"/>
                <a:cs typeface="Arial"/>
              </a:rPr>
              <a:t>Prediction 30D và 90D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C8E86FA-4157-4D53-8819-12C243EF7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2066925"/>
            <a:ext cx="1371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5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3E4AADD-C0FC-4E7B-AF85-94F3F1BC8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1809750"/>
            <a:ext cx="5524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4877D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8C7F099-1BA1-477A-B3DC-2381F7168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1809750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C6FD796-137C-4281-BDD4-F90C83286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60985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Quan sát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F5559D1-D574-460B-9CDB-A51A22580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028950"/>
            <a:ext cx="180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5F6B76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F6B76"/>
                </a:solidFill>
                <a:latin typeface="Arial"/>
                <a:ea typeface="Arial"/>
                <a:cs typeface="Arial"/>
              </a:rPr>
              <a:t>Grafana và Power BI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7D78E7A-E41E-40AE-9CBF-D550B6FB0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5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437A993-6A2D-4E4E-876D-38B1066C2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14850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E8883A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E8883A"/>
                </a:solidFill>
                <a:latin typeface="Arial"/>
                <a:ea typeface="Arial"/>
                <a:cs typeface="Arial"/>
              </a:rPr>
              <a:t>Thông điệp kết luận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FE99843-8A48-400A-9E13-CE2E8BBBD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149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80645"/>
          </a:bodyPr>
          <a:lstStyle xmlns:a="http://schemas.openxmlformats.org/drawingml/2006/main"/>
          <a:p xmlns:a="http://schemas.openxmlformats.org/drawingml/2006/main">
            <a:pPr algn="ctr">
              <a:defRPr sz="2325" b="1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Thuê server V100 theo giờ trong một ngày, chạy smoke workload trực tiếp và dùng benchmark đã chuẩn bị trước.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5ABCE0C-A05D-43F6-A402-5CF8CCA76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58165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14877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4877D"/>
                </a:solidFill>
                <a:latin typeface="Arial"/>
                <a:ea typeface="Arial"/>
                <a:cs typeface="Arial"/>
              </a:rPr>
              <a:t>Demo chứng minh logical distributed processing trên single-node cloud deployment.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709C89E-9D74-4D4D-9E9A-BAFE69599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532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F6B76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F6B76"/>
                </a:solidFill>
                <a:latin typeface="Arial"/>
                <a:ea typeface="Arial"/>
                <a:cs typeface="Arial"/>
              </a:rPr>
              <a:t>BNPL Big Data Platform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1D4A847-9D3E-474F-97C0-3FFF14978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F6B7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F6B76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59206774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2026-09-26T21:11:41.5870000Z</dcterms:created>
  <dcterms:modified xsi:type="dcterms:W3CDTF">2026-09-26T21:11:41.5870000Z</dcterms:modified>
</coreProperties>
</file>