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3872e7ec1645dc" /><Relationship Type="http://schemas.openxmlformats.org/officeDocument/2006/relationships/extended-properties" Target="/docProps/app.xml" Id="Rbe0407c8a1d24e84" /><Relationship Type="http://schemas.openxmlformats.org/officeDocument/2006/relationships/officeDocument" Target="/ppt/presentation.xml" Id="R50aee7f184e9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fe8420283645f0"/>
  </p:sldMasterIdLst>
  <p:notesMasterIdLst>
    <p:notesMasterId xmlns:r="http://schemas.openxmlformats.org/officeDocument/2006/relationships" r:id="Rde346efde2ca40fc"/>
  </p:notesMasterIdLst>
  <p:sldIdLst>
    <p:sldId xmlns:r="http://schemas.openxmlformats.org/officeDocument/2006/relationships" id="256" r:id="R33b45d36b5ce4b65"/>
    <p:sldId xmlns:r="http://schemas.openxmlformats.org/officeDocument/2006/relationships" id="257" r:id="Rb6425e9750334ef8"/>
    <p:sldId xmlns:r="http://schemas.openxmlformats.org/officeDocument/2006/relationships" id="258" r:id="R4f0359a8c1654824"/>
    <p:sldId xmlns:r="http://schemas.openxmlformats.org/officeDocument/2006/relationships" id="259" r:id="Reaf4367f3bc94ffc"/>
    <p:sldId xmlns:r="http://schemas.openxmlformats.org/officeDocument/2006/relationships" id="260" r:id="Rb19e2fd508f845d9"/>
    <p:sldId xmlns:r="http://schemas.openxmlformats.org/officeDocument/2006/relationships" id="261" r:id="R5c7844447293431c"/>
    <p:sldId xmlns:r="http://schemas.openxmlformats.org/officeDocument/2006/relationships" id="262" r:id="R3c87deda8a7e4f66"/>
    <p:sldId xmlns:r="http://schemas.openxmlformats.org/officeDocument/2006/relationships" id="263" r:id="Ra613bb2c659e4cfc"/>
    <p:sldId xmlns:r="http://schemas.openxmlformats.org/officeDocument/2006/relationships" id="264" r:id="Re3079a87bf8241ee"/>
    <p:sldId xmlns:r="http://schemas.openxmlformats.org/officeDocument/2006/relationships" id="265" r:id="R819cbcf93b23458e"/>
    <p:sldId xmlns:r="http://schemas.openxmlformats.org/officeDocument/2006/relationships" id="266" r:id="R45f9de65729f4677"/>
    <p:sldId xmlns:r="http://schemas.openxmlformats.org/officeDocument/2006/relationships" id="267" r:id="Red27862f20e945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ea06d08ebe46f5" /><Relationship Type="http://schemas.openxmlformats.org/officeDocument/2006/relationships/slideMaster" Target="/ppt/slideMasters/slideMaster1.xml" Id="Rf3fe8420283645f0" /><Relationship Type="http://schemas.openxmlformats.org/officeDocument/2006/relationships/notesMaster" Target="/ppt/notesMasters/notesMaster1.xml" Id="Rde346efde2ca40fc" /><Relationship Type="http://schemas.openxmlformats.org/officeDocument/2006/relationships/presProps" Target="/ppt/presProps.xml" Id="Re6441ceba8044457" /><Relationship Type="http://schemas.openxmlformats.org/officeDocument/2006/relationships/tableStyles" Target="/ppt/tableStyles.xml" Id="Rc3a595219b5a4968" /><Relationship Type="http://schemas.openxmlformats.org/officeDocument/2006/relationships/slide" Target="/ppt/slides/slide1.xml" Id="R33b45d36b5ce4b65" /><Relationship Type="http://schemas.openxmlformats.org/officeDocument/2006/relationships/slide" Target="/ppt/slides/slide2.xml" Id="Rb6425e9750334ef8" /><Relationship Type="http://schemas.openxmlformats.org/officeDocument/2006/relationships/slide" Target="/ppt/slides/slide3.xml" Id="R4f0359a8c1654824" /><Relationship Type="http://schemas.openxmlformats.org/officeDocument/2006/relationships/slide" Target="/ppt/slides/slide4.xml" Id="Reaf4367f3bc94ffc" /><Relationship Type="http://schemas.openxmlformats.org/officeDocument/2006/relationships/slide" Target="/ppt/slides/slide5.xml" Id="Rb19e2fd508f845d9" /><Relationship Type="http://schemas.openxmlformats.org/officeDocument/2006/relationships/slide" Target="/ppt/slides/slide6.xml" Id="R5c7844447293431c" /><Relationship Type="http://schemas.openxmlformats.org/officeDocument/2006/relationships/slide" Target="/ppt/slides/slide7.xml" Id="R3c87deda8a7e4f66" /><Relationship Type="http://schemas.openxmlformats.org/officeDocument/2006/relationships/slide" Target="/ppt/slides/slide8.xml" Id="Ra613bb2c659e4cfc" /><Relationship Type="http://schemas.openxmlformats.org/officeDocument/2006/relationships/slide" Target="/ppt/slides/slide9.xml" Id="Re3079a87bf8241ee" /><Relationship Type="http://schemas.openxmlformats.org/officeDocument/2006/relationships/slide" Target="/ppt/slides/slide10.xml" Id="R819cbcf93b23458e" /><Relationship Type="http://schemas.openxmlformats.org/officeDocument/2006/relationships/slide" Target="/ppt/slides/slide11.xml" Id="R45f9de65729f4677" /><Relationship Type="http://schemas.openxmlformats.org/officeDocument/2006/relationships/slide" Target="/ppt/slides/slide12.xml" Id="Red27862f20e9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efbaea12c42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3f0d2a9544622" /><Relationship Type="http://schemas.openxmlformats.org/officeDocument/2006/relationships/notesMaster" Target="/ppt/notesMasters/notesMaster1.xml" Id="R8e6facedfd52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8405641d14442c" /><Relationship Type="http://schemas.openxmlformats.org/officeDocument/2006/relationships/notesMaster" Target="/ppt/notesMasters/notesMaster1.xml" Id="Rd9f0da11144549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04eb412e645a9" /><Relationship Type="http://schemas.openxmlformats.org/officeDocument/2006/relationships/notesMaster" Target="/ppt/notesMasters/notesMaster1.xml" Id="Rf2031596d25c42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70c6e75493452e" /><Relationship Type="http://schemas.openxmlformats.org/officeDocument/2006/relationships/notesMaster" Target="/ppt/notesMasters/notesMaster1.xml" Id="R668921acd28b47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922adb5b6443d1" /><Relationship Type="http://schemas.openxmlformats.org/officeDocument/2006/relationships/notesMaster" Target="/ppt/notesMasters/notesMaster1.xml" Id="Ra9a23640187f4b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141cb1f424eae" /><Relationship Type="http://schemas.openxmlformats.org/officeDocument/2006/relationships/notesMaster" Target="/ppt/notesMasters/notesMaster1.xml" Id="R027a601016da4a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ae169da5694eca" /><Relationship Type="http://schemas.openxmlformats.org/officeDocument/2006/relationships/notesMaster" Target="/ppt/notesMasters/notesMaster1.xml" Id="Rc23d73f53e6d40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44fe13af8e408d" /><Relationship Type="http://schemas.openxmlformats.org/officeDocument/2006/relationships/notesMaster" Target="/ppt/notesMasters/notesMaster1.xml" Id="R56c9fbfde7c142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f06538c4804df4" /><Relationship Type="http://schemas.openxmlformats.org/officeDocument/2006/relationships/notesMaster" Target="/ppt/notesMasters/notesMaster1.xml" Id="Re141a81be134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df40624c054b24" /><Relationship Type="http://schemas.openxmlformats.org/officeDocument/2006/relationships/notesMaster" Target="/ppt/notesMasters/notesMaster1.xml" Id="Rc29d924f575b4a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ac5a9b696e4f47" /><Relationship Type="http://schemas.openxmlformats.org/officeDocument/2006/relationships/notesMaster" Target="/ppt/notesMasters/notesMaster1.xml" Id="Ra9c25ad49a854a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71e4b856e84483" /><Relationship Type="http://schemas.openxmlformats.org/officeDocument/2006/relationships/notesMaster" Target="/ppt/notesMasters/notesMaster1.xml" Id="R27d917e9929d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hình: docs/evidence/powerbi/Overview.png. Phạm vi: code hiện tại, Final Bigdata_Group2.docx và evidence P0-P3.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Final Bigdata_Group2.docx; docs/p0_evidence.md; docs/p1_evidence.md; docs/p3_evidence.md.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README.md, docs/architecture.md và docs/streaming.md.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docs/architecture.md, docs/data_model.md và spark/bnpl_common/schemas.py.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docs/pipeline.md, airflow/dags/bnpl_batch_pipeline.py và docs/p0_evidence.md.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docs/p0_evidence.md, docs/pipeline.md và spark/bnpl_common/validation.py.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docs/p1_evidence.md. Native chart dùng fact row counts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docs/streaming.md và docs/p3_evidence.md.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docs/p0_evidence.md, spark/bnpl_common/features.py và spark/bnpl_common/ml.py.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biểu đồ: docs/evidence/p1/benchmark_runtime.svg. Chi tiết: docs/p1_evidence.md.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docs/p3_evidence.md, spark/jobs/12_monitor_data_drift.py và spark/jobs/13_lake_maintenance.py.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tổng hợp: Final Bigdata_Group2.docx, checklist.md và docs/p0_evidence.md tới docs/p3_evidence.md.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ae5e73b0846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53d5fd6ae844a5" /><Relationship Type="http://schemas.openxmlformats.org/officeDocument/2006/relationships/slideLayout" Target="/ppt/slideLayouts/slideLayout1.xml" Id="R30fb09633b8c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b09633b8c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3adbabfd849bf" /><Relationship Type="http://schemas.openxmlformats.org/officeDocument/2006/relationships/image" Target="/ppt/media/image.png" Id="Re7d4b398f7d24722" /><Relationship Type="http://schemas.openxmlformats.org/officeDocument/2006/relationships/notesSlide" Target="/ppt/notesSlides/notesSlide1.xml" Id="Rc1aa539519d5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55ec4f0a84f58" /><Relationship Type="http://schemas.openxmlformats.org/officeDocument/2006/relationships/notesSlide" Target="/ppt/notesSlides/notesSlide2.xml" Id="R93f36ee799184c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3af38d77c4eb0" /><Relationship Type="http://schemas.openxmlformats.org/officeDocument/2006/relationships/notesSlide" Target="/ppt/notesSlides/notesSlide3.xml" Id="R152c07eb5b284b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0c0f301704ff7" /><Relationship Type="http://schemas.openxmlformats.org/officeDocument/2006/relationships/notesSlide" Target="/ppt/notesSlides/notesSlide4.xml" Id="R5576845e1daf4c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076ed276b42da" /><Relationship Type="http://schemas.openxmlformats.org/officeDocument/2006/relationships/notesSlide" Target="/ppt/notesSlides/notesSlide5.xml" Id="R1a7fed681e714d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e882d510542d1" /><Relationship Type="http://schemas.openxmlformats.org/officeDocument/2006/relationships/notesSlide" Target="/ppt/notesSlides/notesSlide6.xml" Id="R74f6c95fb1bd44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79530c0af49ad" /><Relationship Type="http://schemas.openxmlformats.org/officeDocument/2006/relationships/chart" Target="/ppt/slides/charts/chart1.xml" Id="Rcbdd710315ac444b" /><Relationship Type="http://schemas.openxmlformats.org/officeDocument/2006/relationships/notesSlide" Target="/ppt/notesSlides/notesSlide7.xml" Id="R66706b114156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5b9001d404291" /><Relationship Type="http://schemas.openxmlformats.org/officeDocument/2006/relationships/notesSlide" Target="/ppt/notesSlides/notesSlide8.xml" Id="Rf64ec100a5244a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b75f973464657" /><Relationship Type="http://schemas.openxmlformats.org/officeDocument/2006/relationships/chart" Target="/ppt/slides/charts/chart2.xml" Id="R22cd3410e214453b" /><Relationship Type="http://schemas.openxmlformats.org/officeDocument/2006/relationships/notesSlide" Target="/ppt/notesSlides/notesSlide9.xml" Id="R08842f6caef247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4df320c83492c" /><Relationship Type="http://schemas.openxmlformats.org/officeDocument/2006/relationships/image" Target="/ppt/media/image2.png" Id="R7835fc66533b467c" /><Relationship Type="http://schemas.openxmlformats.org/officeDocument/2006/relationships/notesSlide" Target="/ppt/notesSlides/notesSlide10.xml" Id="R1aa4cecf557d45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4f55be18049b0" /><Relationship Type="http://schemas.openxmlformats.org/officeDocument/2006/relationships/notesSlide" Target="/ppt/notesSlides/notesSlide11.xml" Id="R947900c3406141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6b7a5c4014da5" /><Relationship Type="http://schemas.openxmlformats.org/officeDocument/2006/relationships/notesSlide" Target="/ppt/notesSlides/notesSlide12.xml" Id="Rfe67c32aa66e4c0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Nghìn fact rows</c:v>
          </c:tx>
          <c:spPr>
            <a:solidFill xmlns:a="http://schemas.openxmlformats.org/drawingml/2006/main">
              <a:srgbClr val="14877D"/>
            </a:solidFill>
          </c:spPr>
          <c:cat>
            <c:strRef>
              <c:f>'Chart Data'!$A$2:$A$4</c:f>
              <c:strCache>
                <c:ptCount val="3"/>
                <c:pt idx="0">
                  <c:v>Batch đầu</c:v>
                </c:pt>
                <c:pt idx="1">
                  <c:v>Retry cùng batch</c:v>
                </c:pt>
                <c:pt idx="2">
                  <c:v>Incremental batch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 default (%)</c:v>
          </c:tx>
          <c:spPr>
            <a:solidFill xmlns:a="http://schemas.openxmlformats.org/drawingml/2006/main">
              <a:srgbClr val="E8883A"/>
            </a:solidFill>
          </c:spPr>
          <c:cat>
            <c:strRef>
              <c:f>'Chart Data'!$A$2:$A$3</c:f>
              <c:strCache>
                <c:ptCount val="2"/>
                <c:pt idx="0">
                  <c:v>30D</c:v>
                </c:pt>
                <c:pt idx="1">
                  <c:v>90D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25.86</c:v>
                </c:pt>
                <c:pt idx="1">
                  <c:v>31.65</c:v>
                </c:pt>
              </c:numCache>
            </c:numRef>
          </c:val>
        </c:ser>
        <c:ser>
          <c:idx val="1"/>
          <c:order val="1"/>
          <c:tx>
            <c:v>ROC-AUC (%)</c:v>
          </c:tx>
          <c:spPr>
            <a:solidFill xmlns:a="http://schemas.openxmlformats.org/drawingml/2006/main">
              <a:srgbClr val="14877D"/>
            </a:solidFill>
          </c:spPr>
          <c:cat>
            <c:strRef>
              <c:f>'Chart Data'!$C$2:$C$3</c:f>
              <c:strCache>
                <c:ptCount val="2"/>
                <c:pt idx="0">
                  <c:v>30D</c:v>
                </c:pt>
                <c:pt idx="1">
                  <c:v>90D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95.03</c:v>
                </c:pt>
                <c:pt idx="1">
                  <c:v>94.98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212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4b398f7d24722"/>
          <a:srcRect xmlns:a="http://schemas.openxmlformats.org/drawingml/2006/main" l="28069" t="0" r="28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B99B5-DE05-4AAB-8253-737248C5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77C0B-D890-4D07-BAD0-7CDF285C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3D2C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3D2C7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C2B1-C68E-4C33-8E5C-DC12F916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5619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 trúc Big Data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quy trình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xử lý 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5558B-EE4B-411B-A031-A868595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895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DA501-44F7-457B-9873-790FA656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9E4EC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9E4EC"/>
                </a:solidFill>
                <a:latin typeface="Arial"/>
                <a:ea typeface="Arial"/>
                <a:cs typeface="Arial"/>
              </a:rPr>
              <a:t>Batch, streaming, Medallion, Data Quality và bằng chứng P0-P3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40754-EC47-476B-A24B-C6E4E0D5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9C9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9D5"/>
                </a:solidFill>
                <a:latin typeface="Arial"/>
                <a:ea typeface="Arial"/>
                <a:cs typeface="Arial"/>
              </a:rPr>
              <a:t>27.09.2026</a:t>
            </a:r>
          </a:p>
        </p:txBody>
      </p:sp>
    </p:spTree>
    <p:extLst>
      <p:ext uri="{BB962C8B-B14F-4D97-AF65-F5344CB8AC3E}">
        <p14:creationId xmlns:p14="http://schemas.microsoft.com/office/powerpoint/2010/main" val="1204802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FD480-4E09-4BC2-9619-3CFF9B9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27F77-82B0-4F6A-9389-CD5EB10B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Big Data nằm ở toàn bộ vòng đời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3BF04-D475-4D5C-9F90-6BF27BB7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E9C60-1E7C-49C1-8DAD-40788C6E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52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561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~2M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18AFB-A895-4D31-A272-087E35A2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Nguồn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5A256-40B1-447C-87B8-003EED4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Synthetic historical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1436-DEE9-46E8-866C-FB7A4754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62125"/>
            <a:ext cx="95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F9F18-0799-4443-AB58-5EC1EBA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252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561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110K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21232-FB22-433F-99A9-C42BA2A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9552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End-to-end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CA61C-639D-4A8B-B524-CADC90C1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19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Fact rows đã kiểm chứng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9FE1-8A22-462A-8C15-9BF5871C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62125"/>
            <a:ext cx="95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E2FEC-7D8F-4933-BD95-1175AE96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252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561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C52EE-D100-40D2-A984-00F74048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9552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Kafka partitions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1EBF7-61FD-461F-BEB1-6A470FEC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Parallel event transport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9D4DD-729D-4D38-8712-6836075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95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0CCFC-603A-4061-A657-25F0615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52600"/>
            <a:ext cx="252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561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2F775B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2F775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0A913-F0CD-4FFF-BBB3-42C10BD0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9552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Spark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D53A4-41C9-449F-8881-7BC96002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19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Schema, quality, drift, integration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685800" y="3886200"/>
          <a:ext xmlns:a="http://schemas.openxmlformats.org/drawingml/2006/main" cx="108204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9010650"/>
              </a:tblGrid>
              <a:tr h="3543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F69"/>
                          </a:solidFill>
                        </a:rPr>
                        <a:t>Volume</a:t>
                      </a:r>
                    </a:p>
                  </a:txBody>
                  <a:tcPr marL="91440" marR="91440" marT="45720" marB="45720"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2M source; benchmark tới 2M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883A"/>
                          </a:solidFill>
                        </a:rPr>
                        <a:t>Velocity</a:t>
                      </a:r>
                    </a:p>
                  </a:txBody>
                  <a:tcPr marL="91440" marR="91440" marT="45720" marB="45720">
                    <a:solidFill>
                      <a:srgbClr val="FC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Kafka + Spark micro-batch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F69"/>
                          </a:solidFill>
                        </a:rPr>
                        <a:t>Variety</a:t>
                      </a:r>
                    </a:p>
                  </a:txBody>
                  <a:tcPr marL="91440" marR="91440" marT="45720" marB="45720"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Parquet, JSON, Delta, metrics, prediction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883A"/>
                          </a:solidFill>
                        </a:rPr>
                        <a:t>Veracity</a:t>
                      </a:r>
                    </a:p>
                  </a:txBody>
                  <a:tcPr marL="91440" marR="91440" marT="45720" marB="45720">
                    <a:solidFill>
                      <a:srgbClr val="FC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Schema, quarantine, DQ, PSI drift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F69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Analytics, BI và risk 30D/90D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B5C68-8FA2-4BE4-9B05-001CFC1B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Quy mô demo không phải production scale; điểm mạnh là kiến trúc và tính đúng đắn có bằng chứng.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14DC8-51E6-4473-913F-19591709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0C02A-D4D1-488F-AC16-0EF8AE6D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400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BEFACE-56C3-4BD7-8D02-91C6275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BC647-ACDA-4485-AB0C-5538BE4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Hai data path độc lập, một nền tảng dùng chung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AC475-B799-4945-A335-5FFBDC2C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A2BBE-BEC6-46E7-BB1A-F8919FE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FEC0B-3176-4631-A10B-DE22922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602E5-11DC-4FC4-BD97-757B2B1A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Historical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C5D9B-926E-44C4-8651-016D152E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3050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C3CB7-0433-43F1-8954-63E0E600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383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0E423-7FF5-4445-9FF5-BFC75EEF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383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Staged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Parquet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949C6-9664-4488-A47F-D6D10014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8A626-6BAA-438C-A471-172A8DBF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41405-6291-4812-BCBD-EDF2DEE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31625-9FA5-4EC6-A149-0B033D24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3050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25608-2E8C-4EB5-BBB0-5BB4E621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784F2-89A9-4027-97FD-ADF42459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Quality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8687F-594F-49AD-8447-6C0E1A3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050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929F9-B453-4EA8-83A2-F25F1F6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5F5A2-2B4F-4A6D-AC4B-ABB7E5E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Silver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Delta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E5ABC-E6F8-4EEE-9602-F8B9886E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050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307AC-C205-4D8A-896F-DF5CB159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38350"/>
            <a:ext cx="1600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17C35-431F-42BD-B8AD-131A3B55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38350"/>
            <a:ext cx="160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Gold +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64EF-E0B2-4778-ABC4-D367DF7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STREAMING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8E3B9-721D-4216-920D-7523E95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A29FA-DEF6-4972-AD9D-4473D27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Fake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4B5B9-EDE8-4B4E-A9CF-BF9A5C3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862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29207-3118-4F50-AEF9-BA3F9874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195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9BAC35-2A9C-4D49-8E7C-B1D1201A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195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Kafka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6 partitions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10FB53-1ADA-465C-8553-090871F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2862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2DF36-4CFA-41FF-8896-50A5FE52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0836E-C904-47AA-9057-FEE3B1B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Spark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streaming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6326C-A781-4177-A535-6E33FE3F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2862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3E03B8-6AFC-4593-8EF1-5BFF748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95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394EAF-07F2-4B8B-B8CD-3B83B368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95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Raw Bronze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92B9D-EBD4-4BAA-B8CC-4699A57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2862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54D176-CF8C-4967-9E5A-AC1146A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140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2A39B-DC29-4CDA-8F40-0E3540B8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Shared features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+ models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98C07C-4E32-4F5D-9061-536CBB02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2862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2DE827-3680-4587-9E43-DFA71407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9550"/>
            <a:ext cx="1600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293AD7-B9F4-4C81-BA0D-6117FCA6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9550"/>
            <a:ext cx="160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30D / 90D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4BD575-851B-430C-869F-807EEE6C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896A81-20AE-4016-94E1-71B18F05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702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Airflow điều phối batch. Structured Streaming chạy lâu dài. Kafka là transport; MinIO mới là persistent lake.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64A936-4EC9-4819-8C4D-72885E1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00740F-F444-4A61-AB93-E479CD8C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1004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05065-3349-4489-8E19-7F479D45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614E5-91B3-42C1-B44E-3E7A057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Medallion: raw, trusted và business-ready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02AC6-DD72-43B9-9962-47CD41DC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C1BF1-129E-4C6A-A0A0-E11D3DD1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574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69ECF-A567-4B5D-9E18-7730BF6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574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BRONZE</a:t>
            </a:r>
          </a:p>
          <a:p xmlns:a="http://schemas.openxmlformats.org/drawingml/2006/main">
            <a:pPr algn="ctr">
              <a:defRPr sz="18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Raw Parquet</a:t>
            </a:r>
          </a:p>
          <a:p xmlns:a="http://schemas.openxmlformats.org/drawingml/2006/main">
            <a:pPr algn="ctr">
              <a:defRPr sz="18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Audit + 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114EF-C903-4260-B3D7-22716DED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9825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AF015-B10E-4C96-9311-E41328E6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24574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E888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0DFCF-B867-4976-80FB-82CB1C12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24574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QUALITY GATE</a:t>
            </a:r>
          </a:p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PASS / FAIL</a:t>
            </a:r>
          </a:p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8FAB4-48F4-4590-848F-53DBE14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9825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8A95E-4D06-40A6-8763-40261C5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24574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4FE6F-F4D5-404F-AE6F-C91A9EC2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24574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SILVER</a:t>
            </a:r>
          </a:p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Canonical Delta</a:t>
            </a:r>
          </a:p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MERGE by 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FACA5-2AFC-4BC0-AA97-BB10E1BB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09825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4C74F-7321-4B0D-9AF8-E04A362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95500"/>
            <a:ext cx="9144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2B3D8-485E-48BD-98B6-3AA97EE7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95500"/>
            <a:ext cx="914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C6406-51E0-45DA-A32A-97549E1E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238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FF06C-C1D2-434D-8317-56698646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Gold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750A8-DEB4-4D02-8C41-683BC678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Transaction fact và deterministic dimensions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 + Power BI serving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 lưu raw data trong warehouse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0C7B5-D9BA-4A22-87FD-DC2ABD1A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5238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DCCBC-F24E-4AAA-9CB8-C0AFAC92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Gold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E8A6A-BF94-4FCB-9BC7-AC292F9F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12B"/>
                </a:solidFill>
                <a:latin typeface="Arial"/>
                <a:ea typeface="Arial"/>
                <a:cs typeface="Arial"/>
              </a:rPr>
              <a:t>Flat feature table cho Spark MLlib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12B"/>
                </a:solidFill>
                <a:latin typeface="Arial"/>
                <a:ea typeface="Arial"/>
                <a:cs typeface="Arial"/>
              </a:rPr>
              <a:t>Một feature contract cho training và inference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12B"/>
                </a:solidFill>
                <a:latin typeface="Arial"/>
                <a:ea typeface="Arial"/>
                <a:cs typeface="Arial"/>
              </a:rPr>
              <a:t>Model registry, metrics và 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BAC08-4EFB-412B-93E0-30F062D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Controlled schema evolution: extra nullable field được ghi nhận, breaking change phải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9F4D5-A3E3-499C-BC09-AA28408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8AA93-2EF1-445B-9698-09A2B17D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50489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248EFD-C4A1-4EA6-B6B6-D90C7168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4F4C8-B6D1-4013-BA38-A246AED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Batch DAG biến source thành dữ liệu phục vụ được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9B8F8-62E6-457C-8EB4-FF5628BF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AE4CD-DF93-4E30-BC35-DDDA2726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4765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FA9AF-D0B8-424A-9140-CF26B719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F7849-D572-455D-977C-BFC5BF3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4EA41-99E1-470A-B048-5F6B7A82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47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6B541-B896-4613-B0BB-BEAD25E1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Staged Parquet</a:t>
            </a:r>
          </a:p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Bronze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FFF90-2F14-4A90-A95E-6AA4C529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88EE5-D299-40AE-B72B-4A0F5AB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62125"/>
            <a:ext cx="24765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28EAC-BFFE-4E6E-9CA7-520F31E3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B23AF-E2A3-4DF8-A2AC-0AC94438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549BE-1232-48CF-BFD1-3B7C5F03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BF863-1B85-4814-B2D0-FC21CD6E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Silver MERGE</a:t>
            </a:r>
          </a:p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DQ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126D0-9CA1-4DFC-A9C3-4B0B1C99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22567-87A9-4156-89F9-FD8D3706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4765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C640A-970C-48C2-914A-3B4E95BA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4F496-1175-440D-BCB0-A414B204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B99A9-AD70-42DE-86C5-8E1A5370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47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AA5D7-EAB2-41DB-B794-26940650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Features</a:t>
            </a:r>
          </a:p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Star Schema</a:t>
            </a:r>
          </a:p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Gold 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F5849-E5E3-4B0C-AC1C-82C8E6E0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6B988-84F9-4A5A-9A0C-CE2B962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62125"/>
            <a:ext cx="24765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3F1EA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A5AB4-9797-4A7A-A235-E27B6175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775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CB681-EE4F-409D-AD72-66887E9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5539E-F47E-4B47-92F2-6824D288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47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775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775B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AEF20-85FA-4A94-83F3-764DB6C6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Train + evaluate</a:t>
            </a:r>
          </a:p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 upsert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40817-B8EA-48CE-B851-11A1E2BC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10 Spark jobs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9649F-5A84-4F36-A17D-15DA982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01 ingest  -&gt;  02 validate  -&gt;  03 Silver  -&gt;  04 DQ  -&gt;  05 features  -&gt;  06 star schema  -&gt;  07 ML features  -&gt;  08 train  -&gt;  09 evaluate  -&gt;  10 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482408-D6F3-4016-992A-BFDE7DD0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652A7B-96F7-4903-8901-2C62E86F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5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P0: 100.000 giao dịch end-to-end     |     P1: 110.000 giao dịch sau incremental batch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B152B-0B54-4FBC-90F3-E6534920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82B228-43ED-49F0-8796-A932DBA4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2536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424C3-97C6-4C10-849C-B7D7CBF2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C8510-6F92-4AD8-9FB6-6A343EF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Quality Gate giữ lại record lỗi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C8B1E-26B7-4B0D-B546-76DAAD6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B4C6D-25B0-40CF-9B4F-5DEE40E5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88251-3285-4DE3-8C88-38E3D1F1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4 INPUT</a:t>
            </a:r>
          </a:p>
          <a:p xmlns:a="http://schemas.openxmlformats.org/drawingml/2006/main">
            <a:pPr algn="ctr">
              <a:defRPr sz="18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0C8D8-FFBE-4FE1-B6DA-08431C0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EA02B-CFE3-4C6C-8E61-80A93A43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476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E888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F0841-809C-4465-AD12-EF3BA0C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47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EXPLICIT SCHEMA</a:t>
            </a:r>
          </a:p>
          <a:p xmlns:a="http://schemas.openxmlformats.org/drawingml/2006/main">
            <a:pPr algn="ctr">
              <a:defRPr sz="16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+ VALIDATION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10AAE-6FED-4DE4-9AF2-BE293CA3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7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E06B-B8C5-4178-A014-45FB2CDA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3F1EA"/>
          </a:solidFill>
          <a:ln xmlns:a="http://schemas.openxmlformats.org/drawingml/2006/main" w="9525">
            <a:solidFill>
              <a:srgbClr val="2F77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8C54D-F6A6-45D1-9105-3F8A73A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 PASS</a:t>
            </a:r>
          </a:p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Silver Delta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9EC8B-F8C2-474C-9E3D-0DE85460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4A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AADE6-20F1-4A69-8540-796ECE9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32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E2E0"/>
          </a:solidFill>
          <a:ln xmlns:a="http://schemas.openxmlformats.org/drawingml/2006/main" w="9525">
            <a:solidFill>
              <a:srgbClr val="B74A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CC68A-2F7B-40EA-B970-3C8B6488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32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 FAIL</a:t>
            </a:r>
          </a:p>
          <a:p xmlns:a="http://schemas.openxmlformats.org/drawingml/2006/main">
            <a:pPr algn="ctr">
              <a:defRPr sz="17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1479E-6B53-4C0C-80CC-75CB158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1981200" cy="2209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9BC03-39FA-4CD7-81DC-F5D114E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431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32A74-1394-44E6-BBBB-47043BDC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1600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record bị</a:t>
            </a:r>
          </a:p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drop âm thầm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307E1-0C68-48D8-8C5C-A291C392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Rule bắt buộc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5A254-A8BE-4AF2-8725-3EE19D26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Transaction ID, date và categorical identifiers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Principal, interest, tenor và installment ranges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Credit score 300-850; duplicate trong batch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FCCBA-FF50-4344-8A96-2ECD7743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Evidence quality_demo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89512-1533-48A1-B5CF-5CAE5EC7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Duplicate, invalid date, principal âm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Credit score ngoài miền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valid_record_rate = 0,5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0DF36-BB27-4232-B95A-0E70D08E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5D7F4-841C-4365-9378-725A2B07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28498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D6CD6-71F4-461F-971A-E7245F7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045A7-6489-4397-956E-5318FD72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Retry cùng batch không tạo duplicate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01FE7-C55C-4FE8-9D04-D3E8ACE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52450" y="1571625"/>
          <a:ext xmlns:a="http://schemas.openxmlformats.org/drawingml/2006/main" cx="6096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dd710315ac444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C239D-4C7C-4026-92D2-B38E275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Cơ chế bảo vệ trạng thái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6A236-03F6-4C7F-A8F1-AF4D088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4267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5CDBE-9393-416E-BDF9-518BD49F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89C30-471A-461B-A4C8-A9E4F354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Ghi lại partition cùng source/batch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3B84D-3D0C-4049-AD8C-45FCA26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4267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7B818-A532-47EF-9EDB-372FBC11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Silver / Gold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8EE83-6788-4EA6-86C8-4FC57C0B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Delta MERGE theo business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DFC86-47C2-4FE3-8520-ABEEB05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4267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38187-B48E-45B5-B07A-72635991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A3CDE-824A-4C98-A5D5-8896945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Staging + ON CONFLICT upsert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31003-F1AB-4022-8E03-6F14D27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52950"/>
            <a:ext cx="4267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40529-6D68-4E09-A8D7-4F6E5669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F5D5D-48AC-45F8-8A1A-A05E8B0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Batch registry lưu trạng thái từng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A96C9-8C59-40F1-91CB-2882B534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10250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100K + retry = 100K     |     batch mới = 110K, không phải 210K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694E0-6DEE-4B32-A66D-FBC28BC2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8A1AC-17A8-449D-98A4-A6D47CF8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3640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7BFCCF-499B-45D3-B4FB-F20EAB66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9A56D-6F3C-4A6D-A280-1CDDE670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Hai consumer cho raw và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882CB-7E04-40F3-803E-6EC9FB4F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2ED5F-76DB-4730-A035-3373BBF9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371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70908-213C-4447-9A63-E4471320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Fake</a:t>
            </a:r>
          </a:p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E3B6D-207C-43D7-97E3-E1CF92EA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717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70F57-ED82-4B07-B408-9E86A0CB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43050"/>
            <a:ext cx="2095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E888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76B2B-9D29-49C4-A30F-801552D7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14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2879B-2889-45F5-81F8-FF6ADD0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4F9C4-F6A4-4439-99F2-307AEC9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4B211-F179-4B39-9619-0302C4B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4B389-6F8B-4339-B991-7D627074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84BC7-5600-4910-B754-32392F9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8CD44-132E-42D8-98CB-29070793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1A501-98FA-4520-A776-4909D096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D94D2-7D42-468B-8EC5-710B26C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6B28D-860C-4051-984A-ECE694A1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43175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4BDE8-4B7F-4AE0-B787-8F8A5B26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431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E4F88-69CF-44B0-92BD-AF713824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43175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DB784-C133-4F96-9A0F-ED6D86B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431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93D51-F271-4335-B4E7-9AD5ECDD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145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79D8E-F269-4E7D-8438-1F88F71D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8127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301F8-DDDE-429B-B063-B1BAF25C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66850"/>
            <a:ext cx="2152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D0341-58B4-46D3-A588-FD444BD3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6685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Consumer 1</a:t>
            </a:r>
          </a:p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Raw Bronze</a:t>
            </a:r>
          </a:p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+ Kafka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151A86-AD7D-4702-B1A4-50A9293D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2152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90B3C-0197-481F-B72B-CEF2C34E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Consumer 2</a:t>
            </a:r>
          </a:p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Quality + features</a:t>
            </a:r>
          </a:p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+ saved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6FA69-CBF7-47AF-A216-83C13F9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0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7519E7-3B16-49FE-AE17-DA95131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A13E4-DE05-4A52-A925-A263AAC0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66850"/>
            <a:ext cx="2247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18A507-0598-4137-9542-1F928A73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66850"/>
            <a:ext cx="2247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partitioned Parquet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F0DE9E-C852-4B90-9DBC-68F6D3F8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2247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F6B8A0-9AF0-4A44-9494-CA73400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2247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30D + 90D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B7636-D38B-45EE-8A56-27E17FAA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522F96-ACC4-4D36-B008-8331284E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Checkpoint offsets trên MinIO và max offsets per trigger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Watermark 10 phút + dedup trong bounded state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foreachBatch cho Bronze; foreachPartition cho prediction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38399B-0229-4C48-A1CC-C45CF24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561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13.474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4E637C-B603-4DBB-B5A5-04E68C99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72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465BD-BB42-4EEF-B302-CB30630C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9592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sau compact / restart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3F3553-43EA-4A06-A38D-BC046AD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29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561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26.948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1DD06D-F856-4ECD-A901-83A9B0FF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72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0106FB-4BCD-4270-92C5-E27EA3EF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95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 horizons, 0 duplicate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2A9F33-CC65-4CA9-9F1B-3F63DA0C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4A0F8C-7933-4249-BF88-4FEC3E6E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8708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C20F7-F7B7-492B-A204-5AB7D015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A6D70-CB6D-47A6-B426-2159A1ED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Machine Learning là downstream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46823-87AD-48C2-8A66-6C38A4A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90550" y="163830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cd3410e21445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D2EE3-23CF-4C9F-B3F1-C59C0359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Một feature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296C7-0478-4249-98A2-93550BD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A5F3A-81CA-42CD-8658-2CD6B18E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Historical Gold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A9DA7-AE07-4B2C-B9B5-237043DB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8478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0023A-464A-4D13-AF9D-D0E0BD72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features.py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896F5-2C50-4681-8D2D-9C8AFB7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EC38F-C9CA-475B-9A9F-2EF2E950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A0807-E9AB-44CD-BC37-7D8EC29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Streaming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A1955-E658-423C-8894-5F9F9182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CB2B5-8E7A-4CA8-881E-94016835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LR, RF, GBT x 2 horizons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3819B-3F42-45E7-A6E4-F4E8D645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002D2-DC06-48CE-8C4E-EEF9241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GBT được chọn, nhưng Accuracy cao không che được False 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237EE-CC70-437B-9129-25F3D3B5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30D bỏ sót 708/955 ca default     |     90D bỏ sót 1.013/1.482 ca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D91B6-AF88-437C-AAFB-4B60C4A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420CB-AB78-4915-82C3-09105F83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59663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79768-0F36-41C6-BE9A-79B51B13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886BA-E163-4781-BAD3-BC03E75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Benchmark trên shared 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A8C11-DE85-4052-9E71-1638909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5fc66533b467c"/>
          <a:stretch xmlns:a="http://schemas.openxmlformats.org/drawingml/2006/main"/>
        </p:blipFill>
        <p:spPr>
          <a:xfrm xmlns:a="http://schemas.openxmlformats.org/drawingml/2006/main">
            <a:off x="514350" y="1565275"/>
            <a:ext cx="7239000" cy="422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08C62-E371-4A04-ABCC-962EC90D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Ma trận chính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E1A60-0984-4885-8B83-11A3F46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4 sizes: 100K, 500K, 1M, 2M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1 / 2 workers; full / incremental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3 runs + warm-up; dùng median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48 lượt đo chính thức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24ED8-93F5-4DAA-9909-A1E1385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Cách diễn giải đúng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0DEF4-C147-4640-B4E9-75A39E5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38650"/>
            <a:ext cx="3524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Hai workers dùng chung CPU, disk, network và MinIO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Startup, shuffle và object write tạo overhead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Chứng minh logical distributed execution, không phải physical scale-out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F9ACB-84A3-40D9-B9EC-13D0EE8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352B8-5FB2-4DD9-9310-C11F056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8152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8F2CA-B7D8-44BA-8883-FE152F3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0377A-2D5B-491A-A1C4-66698EC1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P3 xử lý bottleneck thật của data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75004-AD4F-4903-AA57-6951C2C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543050"/>
          <a:ext xmlns:a="http://schemas.openxmlformats.org/drawingml/2006/main" cx="108585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72000"/>
                <a:gridCol w="4286250"/>
              </a:tblGrid>
              <a:tr h="52795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Vấn đề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Nâng cấp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Bằng chứng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Driver ingest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Staged Parquet + distributed read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100 rows, 100 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Kafka parallelism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6 partitions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Predictions từ P0-P5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Driver collect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foreachPartition + batch upsert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26.948 rows, 0 duplicate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Small files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Offline compaction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Bronze 15 -&gt; 6 files</a:t>
                      </a:r>
                    </a:p>
                  </a:txBody>
                  <a:tcPr marL="91440" marR="91440" marT="45720" marB="45720">
                    <a:solidFill>
                      <a:srgbClr val="E3F1EA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Data drift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PSI cho 8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Stable / Moderate / Significant</a:t>
                      </a:r>
                    </a:p>
                  </a:txBody>
                  <a:tcPr marL="91440" marR="91440" marT="45720" marB="45720">
                    <a:solidFill>
                      <a:srgbClr val="FCECDD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Benchmark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Phase-level timing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Cold source read là bottleneck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7C292-77F5-4119-AD36-D6A06259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Drift ban đầu xác nhận generator cũ tạo training-serving skew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0570A-2FD7-4FEA-AC24-B3934576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Loan size PSI 2,488     |     State 1,162     |     Credit band 0,440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31AAB-69A2-4582-94A1-10EC1863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E4DFF-DAD9-48AF-9401-0E7BAD8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654758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3D32C-2BD1-4731-B06D-FDF776FD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BE070-6207-4821-AE96-04B3064D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1089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Thông điệp chốt khi bảo vệ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9706C-0BFD-45D8-AACA-ED73283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C84B8-31BD-4EF2-9091-05393EED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562350" cy="35814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18834-7949-4582-8F25-A4DF83F5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562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CFDA9-AB61-4D97-BA26-52031044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ĐÃ CHỨNG MINH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2E9A0-A0B2-4307-BCFC-DDFF3103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143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Batch + streaming end-to-end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Quality gate và quarantine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Incremental retry không duplicate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6 partitions và 2 horizons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12 Spark tests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692AD-2622-4CDC-9A8F-AF3A29E5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3562350" cy="35814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1B192-4595-4B53-8BDF-4DA3FD57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3562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6BB1D-CA22-44D2-B65B-20F589F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2402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PHẢI NÓI ĐÚNG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F48BD-D1B9-4C6C-835A-2134C5F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3143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Synthetic data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Logical distributed processing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Shared-host benchmark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ML là downstream use case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Recall default còn thấp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203BE-1886-404A-922B-C18C6DA3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3562350" cy="35814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0CF8E-DE10-439D-810B-5C6C9BD3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3562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15E38-FE60-4E25-84FC-ADA1C56F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2402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CÒN THIẾU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22836-5B45-46A5-A85E-8D53ADD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3143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Physical multi-node test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Full 2M unique end-to-end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Kafka throughput matrix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Late-event automated test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Rerun PSI với traffic mới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01C7F-FD68-4381-B27B-842F37E4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Batch tạo trusted data và model; Kafka + Spark xử lý giao dịch mới cho dự đoán 30D / 90D gần thời gian thực.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6589C-DD59-441F-819C-EA126BC2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27E0F-D97F-4D3C-B1F6-AD206D44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34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2792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2026-09-27T02:29:42.4940000Z</dcterms:created>
  <dcterms:modified xsi:type="dcterms:W3CDTF">2026-09-27T02:29:42.4950000Z</dcterms:modified>
</coreProperties>
</file>