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a779d7742a42f6" /><Relationship Type="http://schemas.openxmlformats.org/officeDocument/2006/relationships/extended-properties" Target="/docProps/app.xml" Id="R8e35008c24924a29" /><Relationship Type="http://schemas.openxmlformats.org/officeDocument/2006/relationships/officeDocument" Target="/ppt/presentation.xml" Id="Rd3609b189c124e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50fb712acd4678"/>
  </p:sldMasterIdLst>
  <p:notesMasterIdLst>
    <p:notesMasterId xmlns:r="http://schemas.openxmlformats.org/officeDocument/2006/relationships" r:id="Rb8e13d6a37af421e"/>
  </p:notesMasterIdLst>
  <p:sldIdLst>
    <p:sldId xmlns:r="http://schemas.openxmlformats.org/officeDocument/2006/relationships" id="256" r:id="Rde0a76b6df0049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34d67c7ba348be" /><Relationship Type="http://schemas.openxmlformats.org/officeDocument/2006/relationships/slideMaster" Target="/ppt/slideMasters/slideMaster1.xml" Id="Re450fb712acd4678" /><Relationship Type="http://schemas.openxmlformats.org/officeDocument/2006/relationships/notesMaster" Target="/ppt/notesMasters/notesMaster1.xml" Id="Rb8e13d6a37af421e" /><Relationship Type="http://schemas.openxmlformats.org/officeDocument/2006/relationships/presProps" Target="/ppt/presProps.xml" Id="R43dfc13968b24e3e" /><Relationship Type="http://schemas.openxmlformats.org/officeDocument/2006/relationships/tableStyles" Target="/ppt/tableStyles.xml" Id="Rcd17883597b24281" /><Relationship Type="http://schemas.openxmlformats.org/officeDocument/2006/relationships/slide" Target="/ppt/slides/slide1.xml" Id="Rde0a76b6df0049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0308922e054b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b8934646da4307" /><Relationship Type="http://schemas.openxmlformats.org/officeDocument/2006/relationships/notesMaster" Target="/ppt/notesMasters/notesMaster1.xml" Id="Rce0fc80ac09b47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docs/data_pipeline_summary.md, airflow/dags/bnpl_batch_pipeline.py, spark/jobs/streaming_kafka_to_bronze.py, spark/jobs/streaming_predict.py, docker-compose.yml. Batch: ingest, validate, Silver MERGE, DQ, feature engineering, Analytics và ML song song, load PostgreSQL. Nhãn synthetic dùng huấn luyện. Luồng streaming đọc Kafka vào Bronze rồi predictor đọc file Bronze mới. Models/registry load khi startup. Đường nét đứt biểu diễn phụ thuộc model giữa batch và inference. Personal Loans và bộ generated 10M hiện raw-only. Silver/Gold MERGE theo transaction_id, dimensions theo dimension key. PostgreSQL chỉ serving. Các containers HDFS chạy cùng Docker host.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4abd37565445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85938f251c41f3" /><Relationship Type="http://schemas.openxmlformats.org/officeDocument/2006/relationships/slideLayout" Target="/ppt/slideLayouts/slideLayout1.xml" Id="R61da78387d824e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da78387d824e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eb9ad45e540a3" /><Relationship Type="http://schemas.openxmlformats.org/officeDocument/2006/relationships/notesSlide" Target="/ppt/notesSlides/notesSlide1.xml" Id="R9869e5abb7bf41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631EF3F-2B66-4077-8AA4-DED7EA8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Pipeline BNPL Big Data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218A7-D403-4E5D-B94E-D2DFB7A3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BATCH  /  Airflow điều phối các Spark jobs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BA5D2-4A57-486B-9B38-E564BD27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14288">
            <a:solidFill>
              <a:srgbClr val="126A9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6B30B-A532-4BEB-A42B-ED7F76C6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Hugging Face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3A4B9-0E8A-4778-9CC7-11968A56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BNPL lịch sử</a:t>
            </a:r>
          </a:p>
          <a:p xmlns:a="http://schemas.openxmlformats.org/drawingml/2006/main"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100K rows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3EB4D-241C-40E7-82C4-83FCC87C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14525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14288">
            <a:solidFill>
              <a:srgbClr val="126A9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31224-115D-4872-B648-28DAC481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00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BRONZE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446E7-DD79-4486-9729-AC2EE5E0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241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HDFS Parquet</a:t>
            </a:r>
          </a:p>
          <a:p xmlns:a="http://schemas.openxmlformats.org/drawingml/2006/main"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Raw + metadata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49CC0C-61FB-4812-B498-B883470E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14525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14288">
            <a:solidFill>
              <a:srgbClr val="126A9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8B515-5DB7-4078-83BB-F9638890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00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SILVER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F333D-2DE7-48A6-B7DA-5A5AA9E1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241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Quality Gate</a:t>
            </a:r>
          </a:p>
          <a:p xmlns:a="http://schemas.openxmlformats.org/drawingml/2006/main"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MERGE theo 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E81F37-9554-4084-9ECE-6C888E85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14525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14288">
            <a:solidFill>
              <a:srgbClr val="126A9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934C9D-1E22-41BA-B9C4-4346760F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00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GOLD Shared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4638B-0B8D-4AAF-B976-B295C9B5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241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Shared features</a:t>
            </a:r>
          </a:p>
          <a:p xmlns:a="http://schemas.openxmlformats.org/drawingml/2006/main"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100K rows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AC0CC-9EAC-4789-BF2C-A9DBD02C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95425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14288">
            <a:solidFill>
              <a:srgbClr val="126A9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71B995-A8E9-4EBF-9AC5-3C4B72BB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3A251B-27E7-45E5-BDD6-82ED0901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Fact / Dim</a:t>
            </a:r>
          </a:p>
          <a:p xmlns:a="http://schemas.openxmlformats.org/drawingml/2006/main"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Star Schema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D044F9-9912-4649-8E94-7982D272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14288">
            <a:solidFill>
              <a:srgbClr val="126A9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D322DE-1E88-46A0-9E63-C4431C1C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336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GOLD 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0AF239-E3BD-4927-A65D-20BB521B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Features + labels</a:t>
            </a:r>
          </a:p>
          <a:p xmlns:a="http://schemas.openxmlformats.org/drawingml/2006/main"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Train / evaluate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0048A4-F89F-4D8E-972F-5BCD955B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495425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14288">
            <a:solidFill>
              <a:srgbClr val="126A9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2D9247-2220-480A-A894-4DCA66AB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581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2CB3C5-3B97-4E3C-9927-2C8FAF1B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9050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Serving BI</a:t>
            </a:r>
          </a:p>
          <a:p xmlns:a="http://schemas.openxmlformats.org/drawingml/2006/main"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Star Schema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81F0AA-2D92-46EF-9DCE-21363B6B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47950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14288">
            <a:solidFill>
              <a:srgbClr val="126A9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82A020-2147-4917-9276-4F4DD447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336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Registry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7F1950-B68C-419E-BE6F-39799757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5752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Models 30D/90D</a:t>
            </a:r>
          </a:p>
          <a:p xmlns:a="http://schemas.openxmlformats.org/drawingml/2006/main"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HDFS artifacts</a:t>
            </a:r>
          </a:p>
        </p:txBody>
      </p:sp>
      <p:cxnSp>
        <p:nvCxnSpPr>
          <p:cNvPr id="89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71700" y="23622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778"/>
            </a:solidFill>
            <a:prstDash val="solid"/>
            <a:tailEnd type="triangle" w="sm" len="sm"/>
          </a:ln>
        </p:spPr>
      </p:cxnSp>
      <p:cxnSp>
        <p:nvCxnSpPr>
          <p:cNvPr id="90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57650" y="23622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778"/>
            </a:solidFill>
            <a:prstDash val="solid"/>
            <a:tailEnd type="triangle" w="sm" len="sm"/>
          </a:ln>
        </p:spPr>
      </p:cxnSp>
      <p:cxnSp>
        <p:nvCxnSpPr>
          <p:cNvPr id="91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43600" y="23622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778"/>
            </a:solidFill>
            <a:prstDash val="solid"/>
            <a:tailEnd type="triangle" w="sm" len="sm"/>
          </a:ln>
        </p:spPr>
      </p:cxnSp>
      <p:cxnSp>
        <p:nvCxnSpPr>
          <p:cNvPr id="92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7829550" y="1943100"/>
            <a:ext cx="171450" cy="419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26778"/>
            </a:solidFill>
            <a:prstDash val="solid"/>
            <a:tailEnd type="triangle" w="sm" len="sm"/>
          </a:ln>
        </p:spPr>
      </p:cxnSp>
      <p:cxnSp>
        <p:nvCxnSpPr>
          <p:cNvPr id="93" name=""/>
          <p:cNvCxnSpPr>
            <a:stCxn xmlns:a="http://schemas.openxmlformats.org/drawingml/2006/main" id="12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829550" y="2362200"/>
            <a:ext cx="171450" cy="733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26778"/>
            </a:solidFill>
            <a:prstDash val="solid"/>
            <a:tailEnd type="triangle" w="sm" len="sm"/>
          </a:ln>
        </p:spPr>
      </p:cxnSp>
      <p:cxnSp>
        <p:nvCxnSpPr>
          <p:cNvPr id="94" name=""/>
          <p:cNvCxnSpPr>
            <a:stCxn xmlns:a="http://schemas.openxmlformats.org/drawingml/2006/main" id="15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715500" y="19431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778"/>
            </a:solidFill>
            <a:prstDash val="solid"/>
            <a:tailEnd type="triangle" w="sm" len="sm"/>
          </a:ln>
        </p:spPr>
      </p:cxnSp>
      <p:cxnSp>
        <p:nvCxnSpPr>
          <p:cNvPr id="95" name=""/>
          <p:cNvCxnSpPr>
            <a:stCxn xmlns:a="http://schemas.openxmlformats.org/drawingml/2006/main" id="18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715500" y="30956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778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A7232C-DD88-40A6-8A4C-8EDDD6E2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00375"/>
            <a:ext cx="550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24B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24B36"/>
                </a:solidFill>
                <a:latin typeface="Arial"/>
                <a:ea typeface="Arial"/>
                <a:cs typeface="Arial"/>
              </a:rPr>
              <a:t>FAIL: raw + lý do lỗi lưu Quarantine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43B707-68EE-46F8-9421-78DCCD55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99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Nguồn phụ: Personal Loans 100K và PySpark 10M hiện chỉ ở Bronze.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7A2802-A3A9-4B52-B5DC-B3E99435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9050"/>
            <a:ext cx="638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6A9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6A9C"/>
                </a:solidFill>
                <a:latin typeface="Arial"/>
                <a:ea typeface="Arial"/>
                <a:cs typeface="Arial"/>
              </a:rPr>
              <a:t>STREAMING  /  Spark Structured Streaming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0744B5-FBE3-4208-A10A-2D2545CB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29125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14288">
            <a:solidFill>
              <a:srgbClr val="217A6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A5F091-7373-4FA8-ABC0-4DD4BC89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17A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7A68"/>
                </a:solidFill>
                <a:latin typeface="Arial"/>
                <a:ea typeface="Arial"/>
                <a:cs typeface="Arial"/>
              </a:rPr>
              <a:t>Nguồn / Kafka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58E121-086B-42EC-B150-14A811F7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Producer / form</a:t>
            </a:r>
          </a:p>
          <a:p xmlns:a="http://schemas.openxmlformats.org/drawingml/2006/main"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Kafka KRaft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AA43A3-4950-40A9-86ED-A407275B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429125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14288">
            <a:solidFill>
              <a:srgbClr val="217A68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B910E3-1C1F-4371-AA01-DF052114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14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17A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7A68"/>
                </a:solidFill>
                <a:latin typeface="Arial"/>
                <a:ea typeface="Arial"/>
                <a:cs typeface="Arial"/>
              </a:rPr>
              <a:t>BRONZE Live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00AF38-8C5A-4889-920A-49527D67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8387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Parquet raw</a:t>
            </a:r>
          </a:p>
          <a:p xmlns:a="http://schemas.openxmlformats.org/drawingml/2006/main"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Ngày / giờ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A1390A-FF21-47DD-8086-B41A213A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29125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14288">
            <a:solidFill>
              <a:srgbClr val="217A68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D942A1-F4AD-43A3-8A70-9950E54B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14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17A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7A68"/>
                </a:solidFill>
                <a:latin typeface="Arial"/>
                <a:ea typeface="Arial"/>
                <a:cs typeface="Arial"/>
              </a:rPr>
              <a:t>Quality + FE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A46500-C956-4A14-B229-7EAE27DE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387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PASS: features</a:t>
            </a:r>
          </a:p>
          <a:p xmlns:a="http://schemas.openxmlformats.org/drawingml/2006/main"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FAIL: quarantine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C9F556-FDDE-41C6-9E3B-E903561B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29125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14288">
            <a:solidFill>
              <a:srgbClr val="217A68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5E0CE8-FE55-4205-8AFD-12E7B6AE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14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17A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7A68"/>
                </a:solidFill>
                <a:latin typeface="Arial"/>
                <a:ea typeface="Arial"/>
                <a:cs typeface="Arial"/>
              </a:rPr>
              <a:t>ML Inference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BE167E-6984-4198-B3B4-03BCDC32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387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Models 30D/90D</a:t>
            </a:r>
          </a:p>
          <a:p xmlns:a="http://schemas.openxmlformats.org/drawingml/2006/main"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Score default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9A249B-A8A3-4CD6-ADF7-E1849D27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29125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14288">
            <a:solidFill>
              <a:srgbClr val="217A68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B4A47EF-99F7-4B46-A364-31A40B4B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17A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7A68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A655109-B858-4638-85DD-3E7BDCC4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387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ml.predictions</a:t>
            </a:r>
          </a:p>
          <a:p xmlns:a="http://schemas.openxmlformats.org/drawingml/2006/main"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Upsert theo key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01702C1-6B04-4F18-A1BA-40A76D96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429125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14288">
            <a:solidFill>
              <a:srgbClr val="217A68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4E337D3-CCC3-43FD-94F7-80D61C95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514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17A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7A68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153A1A7-1590-48DE-8FE5-F3A2CFC2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8387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BI / predictions</a:t>
            </a:r>
          </a:p>
          <a:p xmlns:a="http://schemas.openxmlformats.org/drawingml/2006/main">
            <a:pPr>
              <a:defRPr sz="13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Streamlit / BI</a:t>
            </a:r>
          </a:p>
        </p:txBody>
      </p:sp>
      <p:cxnSp>
        <p:nvCxnSpPr>
          <p:cNvPr id="117" name=""/>
          <p:cNvCxnSpPr>
            <a:stCxn xmlns:a="http://schemas.openxmlformats.org/drawingml/2006/main" id="37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2171700" y="48768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778"/>
            </a:solidFill>
            <a:prstDash val="solid"/>
            <a:tailEnd type="triangle" w="sm" len="sm"/>
          </a:ln>
        </p:spPr>
      </p:cxnSp>
      <p:cxnSp>
        <p:nvCxnSpPr>
          <p:cNvPr id="118" name=""/>
          <p:cNvCxnSpPr>
            <a:stCxn xmlns:a="http://schemas.openxmlformats.org/drawingml/2006/main" id="40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4057650" y="48768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778"/>
            </a:solidFill>
            <a:prstDash val="solid"/>
            <a:tailEnd type="triangle" w="sm" len="sm"/>
          </a:ln>
        </p:spPr>
      </p:cxnSp>
      <p:cxnSp>
        <p:nvCxnSpPr>
          <p:cNvPr id="119" name=""/>
          <p:cNvCxnSpPr>
            <a:stCxn xmlns:a="http://schemas.openxmlformats.org/drawingml/2006/main" id="43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5943600" y="48768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778"/>
            </a:solidFill>
            <a:prstDash val="solid"/>
            <a:tailEnd type="triangle" w="sm" len="sm"/>
          </a:ln>
        </p:spPr>
      </p:cxnSp>
      <p:cxnSp>
        <p:nvCxnSpPr>
          <p:cNvPr id="120" name=""/>
          <p:cNvCxnSpPr>
            <a:stCxn xmlns:a="http://schemas.openxmlformats.org/drawingml/2006/main" id="46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7829550" y="48768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778"/>
            </a:solidFill>
            <a:prstDash val="solid"/>
            <a:tailEnd type="triangle" w="sm" len="sm"/>
          </a:ln>
        </p:spPr>
      </p:cxnSp>
      <p:cxnSp>
        <p:nvCxnSpPr>
          <p:cNvPr id="121" name=""/>
          <p:cNvCxnSpPr>
            <a:stCxn xmlns:a="http://schemas.openxmlformats.org/drawingml/2006/main" id="49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9715500" y="48768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778"/>
            </a:solidFill>
            <a:prstDash val="solid"/>
            <a:tailEnd type="triangle" w="sm" len="sm"/>
          </a:ln>
        </p:spPr>
      </p:cxnSp>
      <p:cxnSp>
        <p:nvCxnSpPr>
          <p:cNvPr id="122" name=""/>
          <p:cNvCxnSpPr>
            <a:stCxn xmlns:a="http://schemas.openxmlformats.org/drawingml/2006/main" id="24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 flipH="1">
            <a:off x="6972300" y="3543300"/>
            <a:ext cx="3771900" cy="885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4629B"/>
            </a:solidFill>
            <a:prstDash val="dash"/>
            <a:tail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1C0A3DA-0836-4ADC-B46B-06AAC9E0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778"/>
                </a:solidFill>
                <a:latin typeface="Arial"/>
                <a:ea typeface="Arial"/>
                <a:cs typeface="Arial"/>
              </a:rPr>
              <a:t>Micro-batch 10 giây. Live inference dùng features tạm, chưa ghi Silver / Gold riêng.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962DD1C-8196-4A1A-A25B-9D80AECF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HDFS: 1 NameNode + 3 DataNodes, replication 3. Spark 3.5.1 / Delta Lake 3.2.</a:t>
            </a:r>
          </a:p>
        </p:txBody>
      </p:sp>
    </p:spTree>
    <p:extLst>
      <p:ext uri="{BB962C8B-B14F-4D97-AF65-F5344CB8AC3E}">
        <p14:creationId xmlns:p14="http://schemas.microsoft.com/office/powerpoint/2010/main" val="2493143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2026-10-03T06:24:11.2860000Z</dcterms:created>
  <dcterms:modified xsi:type="dcterms:W3CDTF">2026-10-03T06:24:11.2860000Z</dcterms:modified>
</coreProperties>
</file>