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3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docs/data_pipeline_summary.md, airflow/dags/bnpl_batch_pipeline.py, spark/jobs/streaming_kafka_to_bronze.py, spark/jobs/streaming_predict.py, docker-compose.yml. Batch: ingest, validate, Silver MERGE, DQ, feature engineering, Analytics và ML song song, load PostgreSQL. Nhãn synthetic dùng huấn luyện. Luồng streaming đọc Kafka vào Bronze rồi predictor đọc file Bronze mới. Models/registry load khi startup. Đường nét đứt biểu diễn phụ thuộc model giữa batch và inference. Personal Loans và bộ generated 10M hiện raw-only. Silver/Gold MERGE theo transaction_id, dimensions theo dimension key. PostgreSQL chỉ serving. Các containers HDFS chạy cùng Docker 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https://huggingface.co/datasets/electricsheepafrica/africa-synth-banking-bnpl-nigeria</a:t>
            </a:r>
          </a:p>
          <a:p>
            <a:r>
              <a:t>https://huggingface.co/datasets/electricsheepafrica/nigerian-banking-personal-loans</a:t>
            </a:r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Lãi suất nguồn dùng tỷ lệ thập phân 0–0,05; 0,025 nghĩa là 2,5%. Nguồn: Hugging Face BNPL dataset.</a:t>
            </a:r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Code: spark/jobs/12_generate_10m_bronze.py; runner scripts/run_10m_generation.py. Metadata Kafka mô phỏng, không gửi 10M events qua broker.</a:t>
            </a:r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ID: hdfs_20261002_001. batch_id định danh batch dữ liệu; pipeline_run_id định danh Airflow run; model_version định danh model.</a:t>
            </a:r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Metrics từ PostgreSQL snapshot đã đối chiếu 02/10/2026. Kết quả synthetic không đại diện chất lượng trên khách hàng thực; 6 metrics rows, 6 training runs, 2 registry rows.</a:t>
            </a:r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Không có một lần chạy mới trong tác vụ tạo slide. Không khẳng định benchmark streaming hiện tại đã đo end-to-end. Chờ job kết thúc rồi mới đọc output/log. Chạy generator: python scripts/run_10m_generation.py.</a:t>
            </a:r>
          </a:p>
          <a:p>
            <a:r>
              <a:t>Nguồn nội bộ: docs/data_pipeline_summary.md (03/10/2026); docs/architecture.md; docker-compose.yml; spark/jobs; spark/bnpl_common. Số liệu kết quả là snapshot đã kiểm chứng 02/10/2026, không phải một lần chạy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3C80465E-E6F7-48D2-A3C9-C98359D548E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ĐỒ ÁN BIG DATA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C119685E-9F22-4F22-B8AF-F977B82F502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BNPL</a:t>
            </a:r>
          </a:p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Big Data Platform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8BC4B67F-6112-45B9-8677-384057B899A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E39DDCE3-6355-4C74-B8FF-FDAC5865E10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A2B85105-4739-46B4-BEFD-ABBE952DE31A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6A9C"/>
                </a:solidFill>
                <a:latin typeface="Arial"/>
                <a:ea typeface="Arial"/>
                <a:cs typeface="Arial"/>
              </a:rPr>
              <a:t>Dữ liệu • Kiến trúc phân tán • Pipeline • Machine Learning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E51EC64E-131D-478E-BD42-7722C3A41393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Từ raw data đến phân tích và dự báo rủi ro 30D / 90D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96E1DA01-5DF2-4F69-8B66-001E880E3BB8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Tổng hợp implementation và bằng chứng kỹ thuật | 03/10/2026</a:t>
            </a:r>
          </a:p>
        </p:txBody>
      </p:sp>
    </p:spTree>
    <p:extLst>
      <p:ext uri="{BB962C8B-B14F-4D97-AF65-F5344CB8AC3E}">
        <p14:creationId xmlns:p14="http://schemas.microsoft.com/office/powerpoint/2010/main" val="827045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1E15EF73-5888-4BCB-8E54-3F01EF60C7B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7D94F0EA-1344-44B1-A1BF-49FF9F85405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Bài toán và phạm vi hệ thống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1629BD9D-C31A-4113-B314-312A053F413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0F58BB2F-F012-497A-9136-4B8D4D443FD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9CC8A614-FDC3-4BCA-801F-F1D62A8D638F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Bài toán BNPL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04B795CF-CF28-48A9-B63A-E81FA28942F1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Buy Now, Pay Later: phân tích giao dịch trả góp và dự báo khả năng default trong hai horizon 30 ngày và 90 ngày.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35B379ED-6E72-49FC-A474-EBC3C1ED03E5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Dữ liệu &amp; quy mô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1ADE916-FF7E-47F1-AD95-08B23F2AC24B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Hai nguồn synthetic Nigeria; ingest 100K dòng mỗi nguồn. Bộ 10 triệu dòng riêng dùng kiểm chứng quy mô lưu trữ Bronze.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EEB4E5B5-EF65-4508-A8F8-972266A94F89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Hai luồng xử lý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B4E950A4-9E1B-4E46-A6BD-798A6B5259FE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Batch xây dựng dữ liệu phân tích và huấn luyện model. Streaming tiếp nhận hồ sơ mới và dùng model đã lưu để inference.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CF458D79-B1D7-439D-BB0E-8F5F843391CC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Kết quả phục vụ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A1CC3B9B-57AF-4305-A517-2BBAC6977DCB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Dashboard nghiệp vụ, Star Schema, chất lượng dữ liệu, model metrics và kết quả dự báo trong PostgreSQL.</a:t>
            </a:r>
          </a:p>
        </p:txBody>
      </p:sp>
    </p:spTree>
    <p:extLst>
      <p:ext uri="{BB962C8B-B14F-4D97-AF65-F5344CB8AC3E}">
        <p14:creationId xmlns:p14="http://schemas.microsoft.com/office/powerpoint/2010/main" val="1591125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Hình chữ nhật 62">
            <a:extLst>
              <a:ext uri="{FF2B5EF4-FFF2-40B4-BE49-F238E27FC236}">
                <a16:creationId xmlns:a16="http://schemas.microsoft.com/office/drawing/2014/main" id="{F631EF3F-2B66-4077-8AA4-DED7EA893A2D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12776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lang="vi-VN" sz="3600" b="1" dirty="0">
                <a:solidFill>
                  <a:srgbClr val="17334D"/>
                </a:solidFill>
                <a:latin typeface="Arial"/>
                <a:ea typeface="Arial"/>
                <a:cs typeface="Arial"/>
              </a:rPr>
              <a:t>Kiến trúc tổng thể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125218A7-D403-4E5D-B94E-D2DFB7A3B647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BATCH  /  Airflow điều phối các Spark jobs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BE0BA5D2-4A57-486B-9B38-E564BD273A45}"/>
              </a:ext>
            </a:extLst>
          </p:cNvPr>
          <p:cNvSpPr>
            <a:spLocks noGrp="1"/>
          </p:cNvSpPr>
          <p:nvPr/>
        </p:nvSpPr>
        <p:spPr>
          <a:xfrm>
            <a:off x="457200" y="1914525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126A9C"/>
            </a:solidFill>
          </a:ln>
        </p:spPr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FB96B30B-A532-4BEB-A42B-ED7F76C6658C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Hugging Face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86C3A4B9-0E8A-4778-9CC7-11968A562DEA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BNPL lịch sử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100K rows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5083EB4D-241C-40E7-82C4-83FCC87C1547}"/>
              </a:ext>
            </a:extLst>
          </p:cNvPr>
          <p:cNvSpPr>
            <a:spLocks noGrp="1"/>
          </p:cNvSpPr>
          <p:nvPr/>
        </p:nvSpPr>
        <p:spPr>
          <a:xfrm>
            <a:off x="2343150" y="1914525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126A9C"/>
            </a:solidFill>
          </a:ln>
        </p:spPr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5C531224-115D-4872-B648-28DAC481CB1B}"/>
              </a:ext>
            </a:extLst>
          </p:cNvPr>
          <p:cNvSpPr>
            <a:spLocks noGrp="1"/>
          </p:cNvSpPr>
          <p:nvPr/>
        </p:nvSpPr>
        <p:spPr>
          <a:xfrm>
            <a:off x="2438400" y="20002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036446E7-DD79-4486-9729-AC2EE5E0E568}"/>
              </a:ext>
            </a:extLst>
          </p:cNvPr>
          <p:cNvSpPr>
            <a:spLocks noGrp="1"/>
          </p:cNvSpPr>
          <p:nvPr/>
        </p:nvSpPr>
        <p:spPr>
          <a:xfrm>
            <a:off x="2438400" y="23241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HDFS Parquet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Raw + metadata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3B49CC0C-61FB-4812-B498-B883470E5270}"/>
              </a:ext>
            </a:extLst>
          </p:cNvPr>
          <p:cNvSpPr>
            <a:spLocks noGrp="1"/>
          </p:cNvSpPr>
          <p:nvPr/>
        </p:nvSpPr>
        <p:spPr>
          <a:xfrm>
            <a:off x="4229100" y="1914525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126A9C"/>
            </a:solidFill>
          </a:ln>
        </p:spPr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29D8B515-5DB7-4078-83BB-F963889061BC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C85F333D-2DE7-48A6-B7DA-5A5AA9E13B5C}"/>
              </a:ext>
            </a:extLst>
          </p:cNvPr>
          <p:cNvSpPr>
            <a:spLocks noGrp="1"/>
          </p:cNvSpPr>
          <p:nvPr/>
        </p:nvSpPr>
        <p:spPr>
          <a:xfrm>
            <a:off x="4324350" y="23241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Quality Gate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MERGE theo ID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73E81F37-9554-4084-9ECE-6C888E85A926}"/>
              </a:ext>
            </a:extLst>
          </p:cNvPr>
          <p:cNvSpPr>
            <a:spLocks noGrp="1"/>
          </p:cNvSpPr>
          <p:nvPr/>
        </p:nvSpPr>
        <p:spPr>
          <a:xfrm>
            <a:off x="6115050" y="1914525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126A9C"/>
            </a:solidFill>
          </a:ln>
        </p:spPr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6A934C9D-1E22-41BA-B9C4-4346760FBB23}"/>
              </a:ext>
            </a:extLst>
          </p:cNvPr>
          <p:cNvSpPr>
            <a:spLocks noGrp="1"/>
          </p:cNvSpPr>
          <p:nvPr/>
        </p:nvSpPr>
        <p:spPr>
          <a:xfrm>
            <a:off x="6210300" y="20002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GOLD Shared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0F94638B-0B8D-4AAF-B976-B295C9B5611F}"/>
              </a:ext>
            </a:extLst>
          </p:cNvPr>
          <p:cNvSpPr>
            <a:spLocks noGrp="1"/>
          </p:cNvSpPr>
          <p:nvPr/>
        </p:nvSpPr>
        <p:spPr>
          <a:xfrm>
            <a:off x="6210300" y="23241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Shared features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100K rows</a:t>
            </a:r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6FAAC0CC-9EAC-4789-BF2C-A9DBD02C7786}"/>
              </a:ext>
            </a:extLst>
          </p:cNvPr>
          <p:cNvSpPr>
            <a:spLocks noGrp="1"/>
          </p:cNvSpPr>
          <p:nvPr/>
        </p:nvSpPr>
        <p:spPr>
          <a:xfrm>
            <a:off x="8001000" y="1495425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126A9C"/>
            </a:solidFill>
          </a:ln>
        </p:spPr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4D71B995-A8E9-4EBF-9AC5-3C4B72BBA135}"/>
              </a:ext>
            </a:extLst>
          </p:cNvPr>
          <p:cNvSpPr>
            <a:spLocks noGrp="1"/>
          </p:cNvSpPr>
          <p:nvPr/>
        </p:nvSpPr>
        <p:spPr>
          <a:xfrm>
            <a:off x="8096250" y="15811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C53A251B-27E7-45E5-BDD6-82ED09012CC7}"/>
              </a:ext>
            </a:extLst>
          </p:cNvPr>
          <p:cNvSpPr>
            <a:spLocks noGrp="1"/>
          </p:cNvSpPr>
          <p:nvPr/>
        </p:nvSpPr>
        <p:spPr>
          <a:xfrm>
            <a:off x="8096250" y="19050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Fact / Dim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Star Schema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60D044F9-9912-4649-8E94-7982D2729B62}"/>
              </a:ext>
            </a:extLst>
          </p:cNvPr>
          <p:cNvSpPr>
            <a:spLocks noGrp="1"/>
          </p:cNvSpPr>
          <p:nvPr/>
        </p:nvSpPr>
        <p:spPr>
          <a:xfrm>
            <a:off x="8001000" y="2647950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126A9C"/>
            </a:solidFill>
          </a:ln>
        </p:spPr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84D322DE-1E88-46A0-9E63-C4431C1C94AD}"/>
              </a:ext>
            </a:extLst>
          </p:cNvPr>
          <p:cNvSpPr>
            <a:spLocks noGrp="1"/>
          </p:cNvSpPr>
          <p:nvPr/>
        </p:nvSpPr>
        <p:spPr>
          <a:xfrm>
            <a:off x="8096250" y="273367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GOLD ML</a:t>
            </a:r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7D0AF239-E3BD-4927-A65D-20BB521B0E7B}"/>
              </a:ext>
            </a:extLst>
          </p:cNvPr>
          <p:cNvSpPr>
            <a:spLocks noGrp="1"/>
          </p:cNvSpPr>
          <p:nvPr/>
        </p:nvSpPr>
        <p:spPr>
          <a:xfrm>
            <a:off x="8096250" y="3057525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Features + labels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Train / evaluate</a:t>
            </a:r>
          </a:p>
        </p:txBody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980048A4-F89F-4D8E-972F-5BCD955B55A7}"/>
              </a:ext>
            </a:extLst>
          </p:cNvPr>
          <p:cNvSpPr>
            <a:spLocks noGrp="1"/>
          </p:cNvSpPr>
          <p:nvPr/>
        </p:nvSpPr>
        <p:spPr>
          <a:xfrm>
            <a:off x="9886950" y="1495425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126A9C"/>
            </a:solidFill>
          </a:ln>
        </p:spPr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702D9247-2220-480A-A894-4DCA66AB2FAE}"/>
              </a:ext>
            </a:extLst>
          </p:cNvPr>
          <p:cNvSpPr>
            <a:spLocks noGrp="1"/>
          </p:cNvSpPr>
          <p:nvPr/>
        </p:nvSpPr>
        <p:spPr>
          <a:xfrm>
            <a:off x="9982200" y="15811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3" name="Hình chữ nhật 22">
            <a:extLst>
              <a:ext uri="{FF2B5EF4-FFF2-40B4-BE49-F238E27FC236}">
                <a16:creationId xmlns:a16="http://schemas.microsoft.com/office/drawing/2014/main" id="{E22CB3C5-3B97-4E3C-9927-2C8FAF1B1FE8}"/>
              </a:ext>
            </a:extLst>
          </p:cNvPr>
          <p:cNvSpPr>
            <a:spLocks noGrp="1"/>
          </p:cNvSpPr>
          <p:nvPr/>
        </p:nvSpPr>
        <p:spPr>
          <a:xfrm>
            <a:off x="9982200" y="19050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Serving BI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Star Schema</a:t>
            </a:r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D681F0AA-2D92-46EF-9DCE-21363B6BB3DF}"/>
              </a:ext>
            </a:extLst>
          </p:cNvPr>
          <p:cNvSpPr>
            <a:spLocks noGrp="1"/>
          </p:cNvSpPr>
          <p:nvPr/>
        </p:nvSpPr>
        <p:spPr>
          <a:xfrm>
            <a:off x="9886950" y="2647950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126A9C"/>
            </a:solidFill>
          </a:ln>
        </p:spPr>
      </p:sp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F282A020-2147-4917-9276-4F4DD4475A65}"/>
              </a:ext>
            </a:extLst>
          </p:cNvPr>
          <p:cNvSpPr>
            <a:spLocks noGrp="1"/>
          </p:cNvSpPr>
          <p:nvPr/>
        </p:nvSpPr>
        <p:spPr>
          <a:xfrm>
            <a:off x="9982200" y="273367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26" name="Hình chữ nhật 25">
            <a:extLst>
              <a:ext uri="{FF2B5EF4-FFF2-40B4-BE49-F238E27FC236}">
                <a16:creationId xmlns:a16="http://schemas.microsoft.com/office/drawing/2014/main" id="{7D7F1950-B68C-419E-BE6F-39799757A625}"/>
              </a:ext>
            </a:extLst>
          </p:cNvPr>
          <p:cNvSpPr>
            <a:spLocks noGrp="1"/>
          </p:cNvSpPr>
          <p:nvPr/>
        </p:nvSpPr>
        <p:spPr>
          <a:xfrm>
            <a:off x="9982200" y="3057525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Models 30D/90D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HDFS artifacts</a:t>
            </a:r>
          </a:p>
        </p:txBody>
      </p:sp>
      <p:cxnSp>
        <p:nvCxnSpPr>
          <p:cNvPr id="89" name="Đường kết nối Mũi tên Thẳng 88"/>
          <p:cNvCxnSpPr>
            <a:stCxn id="3" idx="3"/>
            <a:endCxn id="6" idx="1"/>
          </p:cNvCxnSpPr>
          <p:nvPr/>
        </p:nvCxnSpPr>
        <p:spPr>
          <a:xfrm>
            <a:off x="2171700" y="2362200"/>
            <a:ext cx="171450" cy="0"/>
          </a:xfrm>
          <a:prstGeom prst="straightConnector1">
            <a:avLst/>
          </a:prstGeom>
          <a:ln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90" name="Đường kết nối Mũi tên Thẳng 89"/>
          <p:cNvCxnSpPr>
            <a:stCxn id="6" idx="3"/>
            <a:endCxn id="9" idx="1"/>
          </p:cNvCxnSpPr>
          <p:nvPr/>
        </p:nvCxnSpPr>
        <p:spPr>
          <a:xfrm>
            <a:off x="4057650" y="2362200"/>
            <a:ext cx="171450" cy="0"/>
          </a:xfrm>
          <a:prstGeom prst="straightConnector1">
            <a:avLst/>
          </a:prstGeom>
          <a:ln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91" name="Đường kết nối Mũi tên Thẳng 90"/>
          <p:cNvCxnSpPr>
            <a:stCxn id="9" idx="3"/>
            <a:endCxn id="12" idx="1"/>
          </p:cNvCxnSpPr>
          <p:nvPr/>
        </p:nvCxnSpPr>
        <p:spPr>
          <a:xfrm>
            <a:off x="5943600" y="2362200"/>
            <a:ext cx="171450" cy="0"/>
          </a:xfrm>
          <a:prstGeom prst="straightConnector1">
            <a:avLst/>
          </a:prstGeom>
          <a:ln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92" name="Đường kết nối: Mũi tên Gấp khúc 91"/>
          <p:cNvCxnSpPr>
            <a:stCxn id="12" idx="3"/>
            <a:endCxn id="15" idx="1"/>
          </p:cNvCxnSpPr>
          <p:nvPr/>
        </p:nvCxnSpPr>
        <p:spPr>
          <a:xfrm flipV="1">
            <a:off x="7829550" y="1943100"/>
            <a:ext cx="171450" cy="419100"/>
          </a:xfrm>
          <a:prstGeom prst="bentConnector3">
            <a:avLst>
              <a:gd name="adj1" fmla="val 50000"/>
            </a:avLst>
          </a:prstGeom>
          <a:ln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93" name="Đường kết nối: Mũi tên Gấp khúc 92"/>
          <p:cNvCxnSpPr>
            <a:stCxn id="12" idx="3"/>
            <a:endCxn id="18" idx="1"/>
          </p:cNvCxnSpPr>
          <p:nvPr/>
        </p:nvCxnSpPr>
        <p:spPr>
          <a:xfrm>
            <a:off x="7829550" y="2362200"/>
            <a:ext cx="171450" cy="733425"/>
          </a:xfrm>
          <a:prstGeom prst="bentConnector3">
            <a:avLst>
              <a:gd name="adj1" fmla="val 50000"/>
            </a:avLst>
          </a:prstGeom>
          <a:ln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94" name="Đường kết nối Mũi tên Thẳng 93"/>
          <p:cNvCxnSpPr>
            <a:stCxn id="15" idx="3"/>
            <a:endCxn id="21" idx="1"/>
          </p:cNvCxnSpPr>
          <p:nvPr/>
        </p:nvCxnSpPr>
        <p:spPr>
          <a:xfrm>
            <a:off x="9715500" y="1943100"/>
            <a:ext cx="171450" cy="0"/>
          </a:xfrm>
          <a:prstGeom prst="straightConnector1">
            <a:avLst/>
          </a:prstGeom>
          <a:ln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95" name="Đường kết nối Mũi tên Thẳng 94"/>
          <p:cNvCxnSpPr>
            <a:stCxn id="18" idx="3"/>
            <a:endCxn id="24" idx="1"/>
          </p:cNvCxnSpPr>
          <p:nvPr/>
        </p:nvCxnSpPr>
        <p:spPr>
          <a:xfrm>
            <a:off x="9715500" y="3095625"/>
            <a:ext cx="171450" cy="0"/>
          </a:xfrm>
          <a:prstGeom prst="straightConnector1">
            <a:avLst/>
          </a:prstGeom>
          <a:ln w="19050">
            <a:solidFill>
              <a:srgbClr val="526778"/>
            </a:solidFill>
            <a:prstDash val="solid"/>
            <a:tailEnd type="triangle" w="sm" len="sm"/>
          </a:ln>
        </p:spPr>
      </p:cxnSp>
      <p:sp>
        <p:nvSpPr>
          <p:cNvPr id="34" name="Hình chữ nhật 33">
            <a:extLst>
              <a:ext uri="{FF2B5EF4-FFF2-40B4-BE49-F238E27FC236}">
                <a16:creationId xmlns:a16="http://schemas.microsoft.com/office/drawing/2014/main" id="{83A7232C-DD88-40A6-8A4C-8EDDD6E298C4}"/>
              </a:ext>
            </a:extLst>
          </p:cNvPr>
          <p:cNvSpPr>
            <a:spLocks noGrp="1"/>
          </p:cNvSpPr>
          <p:nvPr/>
        </p:nvSpPr>
        <p:spPr>
          <a:xfrm>
            <a:off x="2343150" y="3000375"/>
            <a:ext cx="5505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A24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24B36"/>
                </a:solidFill>
                <a:latin typeface="Arial"/>
                <a:ea typeface="Arial"/>
                <a:cs typeface="Arial"/>
              </a:rPr>
              <a:t>FAIL: raw + lý do lỗi lưu Quarantine</a:t>
            </a:r>
          </a:p>
        </p:txBody>
      </p:sp>
      <p:sp>
        <p:nvSpPr>
          <p:cNvPr id="35" name="Hình chữ nhật 34">
            <a:extLst>
              <a:ext uri="{FF2B5EF4-FFF2-40B4-BE49-F238E27FC236}">
                <a16:creationId xmlns:a16="http://schemas.microsoft.com/office/drawing/2014/main" id="{0543B707-68EE-46F8-9421-78DCCD551E05}"/>
              </a:ext>
            </a:extLst>
          </p:cNvPr>
          <p:cNvSpPr>
            <a:spLocks noGrp="1"/>
          </p:cNvSpPr>
          <p:nvPr/>
        </p:nvSpPr>
        <p:spPr>
          <a:xfrm>
            <a:off x="457200" y="3409950"/>
            <a:ext cx="8953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Nguồn phụ: Personal Loans 100K và PySpark 10M hiện chỉ ở Bronze.</a:t>
            </a:r>
          </a:p>
        </p:txBody>
      </p:sp>
      <p:sp>
        <p:nvSpPr>
          <p:cNvPr id="36" name="Hình chữ nhật 35">
            <a:extLst>
              <a:ext uri="{FF2B5EF4-FFF2-40B4-BE49-F238E27FC236}">
                <a16:creationId xmlns:a16="http://schemas.microsoft.com/office/drawing/2014/main" id="{B57A2802-A3A9-4B52-B5DC-B3E994352AFD}"/>
              </a:ext>
            </a:extLst>
          </p:cNvPr>
          <p:cNvSpPr>
            <a:spLocks noGrp="1"/>
          </p:cNvSpPr>
          <p:nvPr/>
        </p:nvSpPr>
        <p:spPr>
          <a:xfrm>
            <a:off x="457200" y="3829050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STREAMING  /  Spark Structured Streaming</a:t>
            </a:r>
          </a:p>
        </p:txBody>
      </p:sp>
      <p:sp>
        <p:nvSpPr>
          <p:cNvPr id="37" name="Hình chữ nhật 36">
            <a:extLst>
              <a:ext uri="{FF2B5EF4-FFF2-40B4-BE49-F238E27FC236}">
                <a16:creationId xmlns:a16="http://schemas.microsoft.com/office/drawing/2014/main" id="{000744B5-FBE3-4208-A10A-2D2545CB004C}"/>
              </a:ext>
            </a:extLst>
          </p:cNvPr>
          <p:cNvSpPr>
            <a:spLocks noGrp="1"/>
          </p:cNvSpPr>
          <p:nvPr/>
        </p:nvSpPr>
        <p:spPr>
          <a:xfrm>
            <a:off x="457200" y="4429125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217A68"/>
            </a:solidFill>
          </a:ln>
        </p:spPr>
      </p:sp>
      <p:sp>
        <p:nvSpPr>
          <p:cNvPr id="38" name="Hình chữ nhật 37">
            <a:extLst>
              <a:ext uri="{FF2B5EF4-FFF2-40B4-BE49-F238E27FC236}">
                <a16:creationId xmlns:a16="http://schemas.microsoft.com/office/drawing/2014/main" id="{A6A5F091-7373-4FA8-ABC0-4DD4BC897BD2}"/>
              </a:ext>
            </a:extLst>
          </p:cNvPr>
          <p:cNvSpPr>
            <a:spLocks noGrp="1"/>
          </p:cNvSpPr>
          <p:nvPr/>
        </p:nvSpPr>
        <p:spPr>
          <a:xfrm>
            <a:off x="552450" y="45148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17A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7A68"/>
                </a:solidFill>
                <a:latin typeface="Arial"/>
                <a:ea typeface="Arial"/>
                <a:cs typeface="Arial"/>
              </a:rPr>
              <a:t>Nguồn / Kafka</a:t>
            </a:r>
          </a:p>
        </p:txBody>
      </p:sp>
      <p:sp>
        <p:nvSpPr>
          <p:cNvPr id="39" name="Hình chữ nhật 38">
            <a:extLst>
              <a:ext uri="{FF2B5EF4-FFF2-40B4-BE49-F238E27FC236}">
                <a16:creationId xmlns:a16="http://schemas.microsoft.com/office/drawing/2014/main" id="{7E58E121-086B-42EC-B150-14A811F7A155}"/>
              </a:ext>
            </a:extLst>
          </p:cNvPr>
          <p:cNvSpPr>
            <a:spLocks noGrp="1"/>
          </p:cNvSpPr>
          <p:nvPr/>
        </p:nvSpPr>
        <p:spPr>
          <a:xfrm>
            <a:off x="552450" y="48387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Producer / form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Kafka KRaft</a:t>
            </a:r>
          </a:p>
        </p:txBody>
      </p:sp>
      <p:sp>
        <p:nvSpPr>
          <p:cNvPr id="40" name="Hình chữ nhật 39">
            <a:extLst>
              <a:ext uri="{FF2B5EF4-FFF2-40B4-BE49-F238E27FC236}">
                <a16:creationId xmlns:a16="http://schemas.microsoft.com/office/drawing/2014/main" id="{5AAA43A3-4950-40A9-86ED-A407275B4965}"/>
              </a:ext>
            </a:extLst>
          </p:cNvPr>
          <p:cNvSpPr>
            <a:spLocks noGrp="1"/>
          </p:cNvSpPr>
          <p:nvPr/>
        </p:nvSpPr>
        <p:spPr>
          <a:xfrm>
            <a:off x="2343150" y="4429125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217A68"/>
            </a:solidFill>
          </a:ln>
        </p:spPr>
      </p:sp>
      <p:sp>
        <p:nvSpPr>
          <p:cNvPr id="41" name="Hình chữ nhật 40">
            <a:extLst>
              <a:ext uri="{FF2B5EF4-FFF2-40B4-BE49-F238E27FC236}">
                <a16:creationId xmlns:a16="http://schemas.microsoft.com/office/drawing/2014/main" id="{47B910E3-1C1F-4371-AA01-DF0521145B7C}"/>
              </a:ext>
            </a:extLst>
          </p:cNvPr>
          <p:cNvSpPr>
            <a:spLocks noGrp="1"/>
          </p:cNvSpPr>
          <p:nvPr/>
        </p:nvSpPr>
        <p:spPr>
          <a:xfrm>
            <a:off x="2438400" y="45148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17A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7A68"/>
                </a:solidFill>
                <a:latin typeface="Arial"/>
                <a:ea typeface="Arial"/>
                <a:cs typeface="Arial"/>
              </a:rPr>
              <a:t>BRONZE Live</a:t>
            </a:r>
          </a:p>
        </p:txBody>
      </p:sp>
      <p:sp>
        <p:nvSpPr>
          <p:cNvPr id="42" name="Hình chữ nhật 41">
            <a:extLst>
              <a:ext uri="{FF2B5EF4-FFF2-40B4-BE49-F238E27FC236}">
                <a16:creationId xmlns:a16="http://schemas.microsoft.com/office/drawing/2014/main" id="{6600AF38-8C5A-4889-920A-49527D67F015}"/>
              </a:ext>
            </a:extLst>
          </p:cNvPr>
          <p:cNvSpPr>
            <a:spLocks noGrp="1"/>
          </p:cNvSpPr>
          <p:nvPr/>
        </p:nvSpPr>
        <p:spPr>
          <a:xfrm>
            <a:off x="2438400" y="48387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Parquet raw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Ngày / giờ</a:t>
            </a:r>
          </a:p>
        </p:txBody>
      </p:sp>
      <p:sp>
        <p:nvSpPr>
          <p:cNvPr id="43" name="Hình chữ nhật 42">
            <a:extLst>
              <a:ext uri="{FF2B5EF4-FFF2-40B4-BE49-F238E27FC236}">
                <a16:creationId xmlns:a16="http://schemas.microsoft.com/office/drawing/2014/main" id="{E5A1390A-FF21-47DD-8086-B41A213A4EC5}"/>
              </a:ext>
            </a:extLst>
          </p:cNvPr>
          <p:cNvSpPr>
            <a:spLocks noGrp="1"/>
          </p:cNvSpPr>
          <p:nvPr/>
        </p:nvSpPr>
        <p:spPr>
          <a:xfrm>
            <a:off x="4229100" y="4429125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217A68"/>
            </a:solidFill>
          </a:ln>
        </p:spPr>
      </p:sp>
      <p:sp>
        <p:nvSpPr>
          <p:cNvPr id="44" name="Hình chữ nhật 43">
            <a:extLst>
              <a:ext uri="{FF2B5EF4-FFF2-40B4-BE49-F238E27FC236}">
                <a16:creationId xmlns:a16="http://schemas.microsoft.com/office/drawing/2014/main" id="{FCD942A1-F4AD-43A3-8A70-9950E54B0ADD}"/>
              </a:ext>
            </a:extLst>
          </p:cNvPr>
          <p:cNvSpPr>
            <a:spLocks noGrp="1"/>
          </p:cNvSpPr>
          <p:nvPr/>
        </p:nvSpPr>
        <p:spPr>
          <a:xfrm>
            <a:off x="4324350" y="45148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17A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7A68"/>
                </a:solidFill>
                <a:latin typeface="Arial"/>
                <a:ea typeface="Arial"/>
                <a:cs typeface="Arial"/>
              </a:rPr>
              <a:t>Quality + FE</a:t>
            </a:r>
          </a:p>
        </p:txBody>
      </p:sp>
      <p:sp>
        <p:nvSpPr>
          <p:cNvPr id="45" name="Hình chữ nhật 44">
            <a:extLst>
              <a:ext uri="{FF2B5EF4-FFF2-40B4-BE49-F238E27FC236}">
                <a16:creationId xmlns:a16="http://schemas.microsoft.com/office/drawing/2014/main" id="{FBA46500-C956-4A14-B229-7EAE27DE302F}"/>
              </a:ext>
            </a:extLst>
          </p:cNvPr>
          <p:cNvSpPr>
            <a:spLocks noGrp="1"/>
          </p:cNvSpPr>
          <p:nvPr/>
        </p:nvSpPr>
        <p:spPr>
          <a:xfrm>
            <a:off x="4324350" y="48387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PASS: features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FAIL: quarantine</a:t>
            </a:r>
          </a:p>
        </p:txBody>
      </p:sp>
      <p:sp>
        <p:nvSpPr>
          <p:cNvPr id="46" name="Hình chữ nhật 45">
            <a:extLst>
              <a:ext uri="{FF2B5EF4-FFF2-40B4-BE49-F238E27FC236}">
                <a16:creationId xmlns:a16="http://schemas.microsoft.com/office/drawing/2014/main" id="{48C9F556-FDDE-41C6-9E3B-E903561BA5F3}"/>
              </a:ext>
            </a:extLst>
          </p:cNvPr>
          <p:cNvSpPr>
            <a:spLocks noGrp="1"/>
          </p:cNvSpPr>
          <p:nvPr/>
        </p:nvSpPr>
        <p:spPr>
          <a:xfrm>
            <a:off x="6115050" y="4429125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217A68"/>
            </a:solidFill>
          </a:ln>
        </p:spPr>
      </p:sp>
      <p:sp>
        <p:nvSpPr>
          <p:cNvPr id="47" name="Hình chữ nhật 46">
            <a:extLst>
              <a:ext uri="{FF2B5EF4-FFF2-40B4-BE49-F238E27FC236}">
                <a16:creationId xmlns:a16="http://schemas.microsoft.com/office/drawing/2014/main" id="{6E5E0CE8-FE55-4205-8AFD-12E7B6AE8F0A}"/>
              </a:ext>
            </a:extLst>
          </p:cNvPr>
          <p:cNvSpPr>
            <a:spLocks noGrp="1"/>
          </p:cNvSpPr>
          <p:nvPr/>
        </p:nvSpPr>
        <p:spPr>
          <a:xfrm>
            <a:off x="6210300" y="45148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17A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7A68"/>
                </a:solidFill>
                <a:latin typeface="Arial"/>
                <a:ea typeface="Arial"/>
                <a:cs typeface="Arial"/>
              </a:rPr>
              <a:t>ML Inference</a:t>
            </a:r>
          </a:p>
        </p:txBody>
      </p:sp>
      <p:sp>
        <p:nvSpPr>
          <p:cNvPr id="48" name="Hình chữ nhật 47">
            <a:extLst>
              <a:ext uri="{FF2B5EF4-FFF2-40B4-BE49-F238E27FC236}">
                <a16:creationId xmlns:a16="http://schemas.microsoft.com/office/drawing/2014/main" id="{36BE167E-6984-4198-B3B4-03BCDC32B5E9}"/>
              </a:ext>
            </a:extLst>
          </p:cNvPr>
          <p:cNvSpPr>
            <a:spLocks noGrp="1"/>
          </p:cNvSpPr>
          <p:nvPr/>
        </p:nvSpPr>
        <p:spPr>
          <a:xfrm>
            <a:off x="6210300" y="48387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Models 30D/90D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Score default</a:t>
            </a:r>
          </a:p>
        </p:txBody>
      </p:sp>
      <p:sp>
        <p:nvSpPr>
          <p:cNvPr id="49" name="Hình chữ nhật 48">
            <a:extLst>
              <a:ext uri="{FF2B5EF4-FFF2-40B4-BE49-F238E27FC236}">
                <a16:creationId xmlns:a16="http://schemas.microsoft.com/office/drawing/2014/main" id="{529A249B-A8A3-4CD6-ADF7-E1849D27A550}"/>
              </a:ext>
            </a:extLst>
          </p:cNvPr>
          <p:cNvSpPr>
            <a:spLocks noGrp="1"/>
          </p:cNvSpPr>
          <p:nvPr/>
        </p:nvSpPr>
        <p:spPr>
          <a:xfrm>
            <a:off x="8001000" y="4429125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217A68"/>
            </a:solidFill>
          </a:ln>
        </p:spPr>
      </p:sp>
      <p:sp>
        <p:nvSpPr>
          <p:cNvPr id="50" name="Hình chữ nhật 49">
            <a:extLst>
              <a:ext uri="{FF2B5EF4-FFF2-40B4-BE49-F238E27FC236}">
                <a16:creationId xmlns:a16="http://schemas.microsoft.com/office/drawing/2014/main" id="{7B4A47EF-99F7-4B46-A364-31A40B4BD6D0}"/>
              </a:ext>
            </a:extLst>
          </p:cNvPr>
          <p:cNvSpPr>
            <a:spLocks noGrp="1"/>
          </p:cNvSpPr>
          <p:nvPr/>
        </p:nvSpPr>
        <p:spPr>
          <a:xfrm>
            <a:off x="8096250" y="45148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17A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7A68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51" name="Hình chữ nhật 50">
            <a:extLst>
              <a:ext uri="{FF2B5EF4-FFF2-40B4-BE49-F238E27FC236}">
                <a16:creationId xmlns:a16="http://schemas.microsoft.com/office/drawing/2014/main" id="{4A655109-B858-4638-85DD-3E7BDCC4B17F}"/>
              </a:ext>
            </a:extLst>
          </p:cNvPr>
          <p:cNvSpPr>
            <a:spLocks noGrp="1"/>
          </p:cNvSpPr>
          <p:nvPr/>
        </p:nvSpPr>
        <p:spPr>
          <a:xfrm>
            <a:off x="8096250" y="48387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ml.predictions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Upsert theo key</a:t>
            </a:r>
          </a:p>
        </p:txBody>
      </p:sp>
      <p:sp>
        <p:nvSpPr>
          <p:cNvPr id="52" name="Hình chữ nhật 51">
            <a:extLst>
              <a:ext uri="{FF2B5EF4-FFF2-40B4-BE49-F238E27FC236}">
                <a16:creationId xmlns:a16="http://schemas.microsoft.com/office/drawing/2014/main" id="{601702C1-6B04-4F18-A1BA-40A76D9601FE}"/>
              </a:ext>
            </a:extLst>
          </p:cNvPr>
          <p:cNvSpPr>
            <a:spLocks noGrp="1"/>
          </p:cNvSpPr>
          <p:nvPr/>
        </p:nvSpPr>
        <p:spPr>
          <a:xfrm>
            <a:off x="9886950" y="4429125"/>
            <a:ext cx="1714500" cy="895350"/>
          </a:xfrm>
          <a:prstGeom prst="rect">
            <a:avLst/>
          </a:prstGeom>
          <a:solidFill>
            <a:srgbClr val="F1F6FA"/>
          </a:solidFill>
          <a:ln w="14288">
            <a:solidFill>
              <a:srgbClr val="217A68"/>
            </a:solidFill>
          </a:ln>
        </p:spPr>
      </p:sp>
      <p:sp>
        <p:nvSpPr>
          <p:cNvPr id="53" name="Hình chữ nhật 52">
            <a:extLst>
              <a:ext uri="{FF2B5EF4-FFF2-40B4-BE49-F238E27FC236}">
                <a16:creationId xmlns:a16="http://schemas.microsoft.com/office/drawing/2014/main" id="{14E337D3-CCC3-43FD-94F7-80D61C954BAB}"/>
              </a:ext>
            </a:extLst>
          </p:cNvPr>
          <p:cNvSpPr>
            <a:spLocks noGrp="1"/>
          </p:cNvSpPr>
          <p:nvPr/>
        </p:nvSpPr>
        <p:spPr>
          <a:xfrm>
            <a:off x="9982200" y="45148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17A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7A68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54" name="Hình chữ nhật 53">
            <a:extLst>
              <a:ext uri="{FF2B5EF4-FFF2-40B4-BE49-F238E27FC236}">
                <a16:creationId xmlns:a16="http://schemas.microsoft.com/office/drawing/2014/main" id="{D153A1A7-1590-48DE-8FE5-F3A2CFC24F40}"/>
              </a:ext>
            </a:extLst>
          </p:cNvPr>
          <p:cNvSpPr>
            <a:spLocks noGrp="1"/>
          </p:cNvSpPr>
          <p:nvPr/>
        </p:nvSpPr>
        <p:spPr>
          <a:xfrm>
            <a:off x="9982200" y="48387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BI / predictions</a:t>
            </a:r>
          </a:p>
          <a:p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Streamlit / BI</a:t>
            </a:r>
          </a:p>
        </p:txBody>
      </p:sp>
      <p:cxnSp>
        <p:nvCxnSpPr>
          <p:cNvPr id="117" name="Đường kết nối Mũi tên Thẳng 116"/>
          <p:cNvCxnSpPr>
            <a:stCxn id="37" idx="3"/>
            <a:endCxn id="40" idx="1"/>
          </p:cNvCxnSpPr>
          <p:nvPr/>
        </p:nvCxnSpPr>
        <p:spPr>
          <a:xfrm>
            <a:off x="2171700" y="4876800"/>
            <a:ext cx="171450" cy="0"/>
          </a:xfrm>
          <a:prstGeom prst="straightConnector1">
            <a:avLst/>
          </a:prstGeom>
          <a:ln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118" name="Đường kết nối Mũi tên Thẳng 117"/>
          <p:cNvCxnSpPr>
            <a:stCxn id="40" idx="3"/>
            <a:endCxn id="43" idx="1"/>
          </p:cNvCxnSpPr>
          <p:nvPr/>
        </p:nvCxnSpPr>
        <p:spPr>
          <a:xfrm>
            <a:off x="4057650" y="4876800"/>
            <a:ext cx="171450" cy="0"/>
          </a:xfrm>
          <a:prstGeom prst="straightConnector1">
            <a:avLst/>
          </a:prstGeom>
          <a:ln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119" name="Đường kết nối Mũi tên Thẳng 118"/>
          <p:cNvCxnSpPr>
            <a:stCxn id="43" idx="3"/>
            <a:endCxn id="46" idx="1"/>
          </p:cNvCxnSpPr>
          <p:nvPr/>
        </p:nvCxnSpPr>
        <p:spPr>
          <a:xfrm>
            <a:off x="5943600" y="4876800"/>
            <a:ext cx="171450" cy="0"/>
          </a:xfrm>
          <a:prstGeom prst="straightConnector1">
            <a:avLst/>
          </a:prstGeom>
          <a:ln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120" name="Đường kết nối Mũi tên Thẳng 119"/>
          <p:cNvCxnSpPr>
            <a:stCxn id="46" idx="3"/>
            <a:endCxn id="49" idx="1"/>
          </p:cNvCxnSpPr>
          <p:nvPr/>
        </p:nvCxnSpPr>
        <p:spPr>
          <a:xfrm>
            <a:off x="7829550" y="4876800"/>
            <a:ext cx="171450" cy="0"/>
          </a:xfrm>
          <a:prstGeom prst="straightConnector1">
            <a:avLst/>
          </a:prstGeom>
          <a:ln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121" name="Đường kết nối Mũi tên Thẳng 120"/>
          <p:cNvCxnSpPr>
            <a:stCxn id="49" idx="3"/>
            <a:endCxn id="52" idx="1"/>
          </p:cNvCxnSpPr>
          <p:nvPr/>
        </p:nvCxnSpPr>
        <p:spPr>
          <a:xfrm>
            <a:off x="9715500" y="4876800"/>
            <a:ext cx="171450" cy="0"/>
          </a:xfrm>
          <a:prstGeom prst="straightConnector1">
            <a:avLst/>
          </a:prstGeom>
          <a:ln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122" name="Đường kết nối: Mũi tên Gấp khúc 121"/>
          <p:cNvCxnSpPr>
            <a:stCxn id="24" idx="2"/>
            <a:endCxn id="46" idx="0"/>
          </p:cNvCxnSpPr>
          <p:nvPr/>
        </p:nvCxnSpPr>
        <p:spPr>
          <a:xfrm flipH="1">
            <a:off x="6972300" y="3543300"/>
            <a:ext cx="3771900" cy="8858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74629B"/>
            </a:solidFill>
            <a:prstDash val="dash"/>
            <a:tailEnd type="triangle" w="sm" len="sm"/>
          </a:ln>
        </p:spPr>
      </p:cxnSp>
      <p:sp>
        <p:nvSpPr>
          <p:cNvPr id="61" name="Hình chữ nhật 60">
            <a:extLst>
              <a:ext uri="{FF2B5EF4-FFF2-40B4-BE49-F238E27FC236}">
                <a16:creationId xmlns:a16="http://schemas.microsoft.com/office/drawing/2014/main" id="{51C0A3DA-0836-4ADC-B46B-06AAC9E09589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12776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Micro-batch 10 giây. Live inference dùng features tạm, chưa ghi Silver / Gold riêng.</a:t>
            </a:r>
          </a:p>
        </p:txBody>
      </p:sp>
      <p:sp>
        <p:nvSpPr>
          <p:cNvPr id="62" name="Hình chữ nhật 61">
            <a:extLst>
              <a:ext uri="{FF2B5EF4-FFF2-40B4-BE49-F238E27FC236}">
                <a16:creationId xmlns:a16="http://schemas.microsoft.com/office/drawing/2014/main" id="{8962DD1C-8196-4A1A-A25B-9D80AECF7806}"/>
              </a:ext>
            </a:extLst>
          </p:cNvPr>
          <p:cNvSpPr>
            <a:spLocks noGrp="1"/>
          </p:cNvSpPr>
          <p:nvPr/>
        </p:nvSpPr>
        <p:spPr>
          <a:xfrm>
            <a:off x="457200" y="6115050"/>
            <a:ext cx="112776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HDFS: 1 NameNode + 3 DataNodes, replication 3. Spark 3.5.1 / Delta Lake 3.2.</a:t>
            </a:r>
          </a:p>
        </p:txBody>
      </p:sp>
    </p:spTree>
    <p:extLst>
      <p:ext uri="{BB962C8B-B14F-4D97-AF65-F5344CB8AC3E}">
        <p14:creationId xmlns:p14="http://schemas.microsoft.com/office/powerpoint/2010/main" val="249314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4F92FD17-F636-45FA-AFC3-5E0AF09A5AD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1EB870F1-616D-4D89-8AE3-38E69EB7850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Nguồn dữ liệu gốc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EBBC7269-1C7D-4246-826F-6063F8EEDEB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93B391F0-6206-48A9-A3C6-7F2AFE6C720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Bảng 10"/>
          <p:cNvGraphicFramePr/>
          <p:nvPr/>
        </p:nvGraphicFramePr>
        <p:xfrm>
          <a:off x="609600" y="1790700"/>
          <a:ext cx="10972800" cy="17145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Nguồn synthetic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Quy mô upstream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Đã ingest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 hiện tại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BNPL Nigeria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Khoảng 2 triệu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100.000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Silver / Gold / ML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Personal Loans Nigeria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Khoảng 2 triệu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100.000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Bronze raw-only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87764642-5A09-418A-A9AA-B54F216D3E70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Cả hai nguồn mô phỏng dữ liệu Nigeria; không phải hồ sơ ngân hàng thực tế. Số dòng nguồn không đồng nghĩa số dòng đã đưa vào lake.</a:t>
            </a:r>
          </a:p>
        </p:txBody>
      </p:sp>
    </p:spTree>
    <p:extLst>
      <p:ext uri="{BB962C8B-B14F-4D97-AF65-F5344CB8AC3E}">
        <p14:creationId xmlns:p14="http://schemas.microsoft.com/office/powerpoint/2010/main" val="1955591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59DD76E7-21B8-49C6-B714-37F3063D10A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B731C23C-FC3D-4254-AE42-49E80EC8F8E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BNPL: schema và ý nghĩa dữ liệu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2F7EA3D9-F008-4ABA-8CA8-54449BE0D35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934B709F-6451-4C71-B1E1-5437BA3266B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2E1A359A-B4DA-4413-85F5-A980288D8914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Định danh &amp; thời gian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A5082140-F01E-4B7B-A6B8-5E67C6CA42EC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transaction_id, customer_id, purchase_date, first_payment_due: liên kết giao dịch, khách hàng và thời điểm thanh toán.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BB15B0BD-BD2C-45A1-A435-D49A8EAF3B5C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Nghiệp vụ khoản vay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576CFF3-B862-4F55-8044-4B0AFD58BBD7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principal_ngn, interest_rate_monthly, tenor_days, num_installments: tiền gốc, lãi suất tháng, kỳ hạn và số kỳ trả.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FE6AF0F6-95C7-4EAA-8D33-5074C9FB4FCE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Bối cảnh &amp; nhãn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E0598BCB-9D4E-4841-88F4-C85B4C941231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merchant_name/category, customer_state, provider, credit_score, first_time_customer, default_30d/default_90d.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ED8CD695-7B70-4BB7-99EE-1F965239CDE4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Đặc điểm nguồn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7CA085B0-2602-46FF-BBD3-BDE529BBB312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16 trường; giai đoạn 2022–2024; principal ₦5K–₦500K; credit score 300–850; tenor 14–90 ngày; 37 vùng, 5 providers.</a:t>
            </a:r>
          </a:p>
        </p:txBody>
      </p:sp>
    </p:spTree>
    <p:extLst>
      <p:ext uri="{BB962C8B-B14F-4D97-AF65-F5344CB8AC3E}">
        <p14:creationId xmlns:p14="http://schemas.microsoft.com/office/powerpoint/2010/main" val="1894888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C6F51151-EE54-4A29-8A36-35E88172402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849942C4-292B-4C4F-8C49-8CDD8259926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Personal Loans: nguồn phụ cho mở rộng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A2C8363C-212F-43E5-865D-60FD8177F8D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C6E31A3D-DADA-469A-B5C2-C9FB4A5F7A4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57BCA54E-C998-4868-85F1-0542FFEC3821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20 trường dữ liệu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DDD85977-F270-4A98-8EDD-4690370272D0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loan_id, customer_id, application/disbursement date, loan_status, principal, annual rate, tenor và monthly payment.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DB1595CC-8862-41CB-80DA-8EB8C163A435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Khả năng trả nợ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E6329A37-58A0-4C0E-8BF2-805583DA21F8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salary_ngn, debt_to_income_ratio, credit_score, employment_type, loan_purpose, state và salary_detected.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20B40BDE-801F-4C98-AED0-571A99CE3BE3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Nhãn &amp; quá hạn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0B827E25-4D15-449D-9155-79A7E36FB42D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dpd_current, dpd_max_90d, default_90d, default_180d. Dữ liệu mô phỏng application giai đoạn 2021–2024.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20703D34-D8E8-494B-89B6-D9389B9F40B2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Không gộp tự động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863075D6-3BCC-4BD7-98D2-489E8BA72C6F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Schema khác BNPL: loan_id, lãi suất năm, kỳ hạn tháng, nhãn 90D/180D. Hiện lưu Bronze để audit/reprocess; chưa train model.</a:t>
            </a:r>
          </a:p>
        </p:txBody>
      </p:sp>
    </p:spTree>
    <p:extLst>
      <p:ext uri="{BB962C8B-B14F-4D97-AF65-F5344CB8AC3E}">
        <p14:creationId xmlns:p14="http://schemas.microsoft.com/office/powerpoint/2010/main" val="1771359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4609B34D-6AAD-4F56-8FF9-D680B0EC5C3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B5F707B4-2837-4B31-BA15-39822F200F0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Ingestion: dữ liệu tải về đâu?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68DF0300-8E58-4F29-851D-A29160877FF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A10B9D41-3A39-4B95-87A3-14F040795F7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77601D3B-4237-4AE1-AAE7-25BEAB22BC47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Đọc nguồn hữu hạn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5BBDDB50-8BBD-4540-A0E5-BBDB4AE7E0A5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01_ingest.py dùng load_dataset(..., streaming=True) để đọc iterator lịch sử; không tải toàn bộ nguồn về local trước.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A5AD5B5E-1510-44E5-8280-45B05BE6700B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Bộ nhớ driver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98654072-1E7C-4C30-B85A-3EB0977CFE52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Mỗi chunk 50.000 record được gom tại driver, serialize JSON rồi tạo Spark DataFrame. Giới hạn hiện tại 100K / nguồn.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648D2237-6ABF-4A2D-B856-D62083270AD3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Lưu raw trên HDFS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9FE13B80-7BD6-4E74-8308-14AE5872AB91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Spark ghi Parquet gồm value JSON và provenance: source, split, batch, run, ingestion time. Chia thư mục source / batch.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34D8DBE1-7530-4871-99EE-769C9842110A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Ý nghĩa streaming=True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C990E9EC-CFF9-4B72-81E0-EA4B8EDAFD10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Đây là cách fetch dataset cho batch job hữu hạn, không phải Structured Streaming liên tục từ Kafka.</a:t>
            </a:r>
          </a:p>
        </p:txBody>
      </p:sp>
    </p:spTree>
    <p:extLst>
      <p:ext uri="{BB962C8B-B14F-4D97-AF65-F5344CB8AC3E}">
        <p14:creationId xmlns:p14="http://schemas.microsoft.com/office/powerpoint/2010/main" val="688031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7D03E6C2-7A62-415E-A61A-6F54488081C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84421341-EE8E-422F-AF73-920B3B5AC8D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Sinh 10 triệu dòng bằng PySpark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9A7B19F0-A19F-4954-84D5-E48F42BCDA1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6FEA981F-F2E5-4FDE-A6BF-6989131D9EC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33064D9E-A235-4D00-9058-51BD9BE0D4C7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Chia compute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D65E5496-2DD8-450A-8B38-B095B2BCE556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spark.range(0, 10_000_000, 1, 96): tạo dãy ID phân tán; Spark SQL expressions tạo trường bằng modulo.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EDD987DE-FBF0-4B18-91E0-A0FBE094FE3F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Quy mô thực thể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45997FD0-54D1-4BDB-ACE7-C3BDE6139327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Transaction ID duy nhất; tối đa 2 triệu customer ID, 50K merchant, 8 categories, 6 states và 5 providers.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0F21E524-8872-4C6E-9722-0409D994655E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Công thức tái lập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C68D53CC-FA5A-4AF9-BB8C-5837010255E3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principal = 5000 + (id × 7919 % 495000); credit_score = 300 + id % 551; first-time khoảng 25%.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FC2AAE92-6207-4EC0-8CC8-0FEE46B215FC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98783BE5-5151-4901-862D-800A4D28252B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Raw JSON + parsed struct + metadata Kafka giả lập; ghi trực tiếp HDFS Parquet Snappy, partition ngày/giờ trong 30 ngày.</a:t>
            </a:r>
          </a:p>
        </p:txBody>
      </p:sp>
    </p:spTree>
    <p:extLst>
      <p:ext uri="{BB962C8B-B14F-4D97-AF65-F5344CB8AC3E}">
        <p14:creationId xmlns:p14="http://schemas.microsoft.com/office/powerpoint/2010/main" val="1809357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5328E1E0-8168-42F1-90D3-5DF4AB66579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37314711-E10E-48E7-A2EA-88CB1D611F0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Bộ 10M: kết quả và giới hạn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99A1ADB5-3F14-46AD-8DAD-4084F08FC2B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FACCD66F-BAE2-4B51-97F5-365CE5DAC10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3369D72D-6845-494E-B284-8C272950064B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Kết quả đã đo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EAA9C17D-67BE-4824-ADBD-71C5159488CD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10.000.000 dòng sau khi đọc lại và count; khoảng 871 MiB logic, khoảng 2,6 GiB khi replication 3 (02/10/2026).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4DA166C4-17DC-4264-BD13-FFE91C91F62F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Partition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89F844A4-BFD0-4307-82A0-619180838EC3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30 ngày × 24 giờ ≈ 720 thư mục thời gian. 96 Spark partitions không đồng nghĩa 96 file và không phải HDFS blocks.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3298FFF2-8BBC-46DA-934A-64D6E08ECE47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Phạm vi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2F35359A-AFDA-47D1-8DD4-5B381CF5855A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Bộ này đang ở Bronze, chưa tạo Silver/Gold và chưa có nhãn default để train supervised ML.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C1C6B0A2-39CA-4094-8C62-25C82E0BDE11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Cần chuẩn hóa khi mở rộng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2E0C8ED7-B950-4742-9D28-18C55F1A2FA2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Generator hiện có rate 1,0–5,9 khác tỷ lệ 0–0,05 của nguồn; tenor 30–360 ngày. Chưa dùng bộ này cho model hiện tại.</a:t>
            </a:r>
          </a:p>
        </p:txBody>
      </p:sp>
    </p:spTree>
    <p:extLst>
      <p:ext uri="{BB962C8B-B14F-4D97-AF65-F5344CB8AC3E}">
        <p14:creationId xmlns:p14="http://schemas.microsoft.com/office/powerpoint/2010/main" val="159759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E82B3913-DB40-4387-B6AF-FD3804BC0D0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FD17468D-8990-403D-9BBE-8B5FE9AF970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HDFS phân tán: đọc và ghi dữ liệu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76D193FC-81EC-4FE1-97C8-0C89B5BEFC3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54EDB790-B4AD-4692-9D12-1228A034B46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FDC4870B-92E0-4984-B2D9-BA2E3E8FBAC4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NameNode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B35462C8-34F7-4E71-BE03-13AA4D2F592A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Quản lý namespace, metadata và vị trí block. URI chung: hdfs://namenode:8020/bnpl-data/.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AB0020F3-76F2-455B-BBCA-72B45A7FFF3D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Ba DataNodes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8231DB60-798F-4B35-BD4A-2D2A9CD10E59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datanode-1 / datanode-2 / datanode-3 giữ block trên ba volume riêng. dfs.replication=3 duy trì ba bản sao.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B038B502-2FA6-4137-900C-F0867D277A51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Spark executors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5C0EC6D1-F789-4C01-8D6D-2AC806E824E4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Lấy vị trí block từ NameNode, sau đó đọc/ghi trực tiếp DataNodes. Hai Spark workers xử lý partitions song song.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0444689A-E288-4428-BE58-3B9EF5778246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Failure domain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5D6E82C8-F6F5-4848-916B-3FF234CDC9B7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Các containers vẫn ở cùng máy Docker Desktop, cùng rack vật lý; đây là mô phỏng phân tán, chưa có multi-host / NameNode HA.</a:t>
            </a:r>
          </a:p>
        </p:txBody>
      </p:sp>
    </p:spTree>
    <p:extLst>
      <p:ext uri="{BB962C8B-B14F-4D97-AF65-F5344CB8AC3E}">
        <p14:creationId xmlns:p14="http://schemas.microsoft.com/office/powerpoint/2010/main" val="163982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0A82B60C-56A7-41D0-A9B2-470A6AC59F4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3F294961-F41E-43A4-BA91-12F64279865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Data Lake: các vùng lưu trữ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44C490E0-5A21-4332-A01C-CCA09141378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1FA0662-E50C-45C8-8189-A9750EB4646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1" name="Bảng 10"/>
          <p:cNvGraphicFramePr/>
          <p:nvPr/>
        </p:nvGraphicFramePr>
        <p:xfrm>
          <a:off x="609600" y="1790700"/>
          <a:ext cx="10972800" cy="363474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Vùng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Định dạng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Nội dung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Bronze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Parquet / Snappy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Raw lịch sử, live events, generated 10M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Silver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Delta Lake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Giao dịch sạch, schema chuẩn, MERGE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Gold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Delta Lake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Shared features, Analytics, ML, DQ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Rejected / staging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Parquet / vùng trung gian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Lỗi validation và kết quả tạm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Models / checkpoints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Spark artifacts / progress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PipelineModels và trạng thái stream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1403AF08-B962-45F5-B54B-3178DC2A28CA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Delta Lake = Parquet data files + _delta_log: transaction log, ACID và MERGE. PostgreSQL không lưu raw lake.</a:t>
            </a:r>
          </a:p>
        </p:txBody>
      </p:sp>
    </p:spTree>
    <p:extLst>
      <p:ext uri="{BB962C8B-B14F-4D97-AF65-F5344CB8AC3E}">
        <p14:creationId xmlns:p14="http://schemas.microsoft.com/office/powerpoint/2010/main" val="1011650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7E7CA107-E281-45F1-9130-1EC682CAABA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FBBF422F-89D4-4D09-A546-626A30A3BC6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Dung lượng và sức khỏe HDFS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6256FE54-C1C4-4126-9D8A-1B279FE2692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5FE98B29-2225-408E-B3B7-4B085812C89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4EBDF006-7E40-495B-AE10-3D0470977DAC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Snapshot 02/10/2026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84B4BB4E-89D3-46C7-99D0-1005DFB01128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3 live DataNodes; 1.089 blocks; average replication 3,0. Under-replicated, missing và corrupt blocks đều bằng 0.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4006B982-77DC-4B75-928A-8A356964FE95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Dung lượng lake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078927C0-6DB9-426F-AC95-A8BD030176B2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Toàn /bnpl-data: 1.001.433.641 bytes logic (~955 MiB). HDFS DFS Used khoảng 2,83 GiB sau replication.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3786D5F0-AE0F-4726-8AE0-9409D582AB56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Diễn giải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1E4AC612-80A2-428B-9860-8B1CE46F108B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Dung lượng vật lý xấp xỉ 3 × logic, cộng checksum/metadata. Nén Parquet làm giảm dung lượng dù số dòng lớn.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F28FD54E-8336-4E11-A5C0-A00C73D798E5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Lệnh kiểm tra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7558C80D-FCD0-43CA-A364-242FD254C91C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hdfs dfsadmin -report; hdfs fsck /bnpl-data; hdfs dfs -du -h /bnpl-data (chạy trong container namenode).</a:t>
            </a:r>
          </a:p>
        </p:txBody>
      </p:sp>
    </p:spTree>
    <p:extLst>
      <p:ext uri="{BB962C8B-B14F-4D97-AF65-F5344CB8AC3E}">
        <p14:creationId xmlns:p14="http://schemas.microsoft.com/office/powerpoint/2010/main" val="758845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6FD12F64-6964-460B-8DF2-17E3F4DAE34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0A5F4B24-84CF-44A3-AF69-3008B998D75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Airflow: điều phối batch end-to-end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729AD2E-D1E3-4F82-BB42-6E1DB7FA792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A96F84C9-DFFB-4E5D-8FDC-72459F467D9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ECB22876-152C-42BB-801E-0CA7B040359C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Khởi chạy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465A5866-765B-4670-83AB-57F31B215E99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DAG bnpl_batch_pipeline: schedule=None, trigger thủ công; max_active_runs=1. Airflow gọi spark-submit, Spark xử lý dữ liệu.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F0FAEB77-5448-40EE-86FD-68CA2E37F1A1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Chuỗi đầu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8A215C4B-B3F6-4770-A9EF-999ED645FD24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Ingest → validate Bronze → Silver MERGE → DQ metrics → shared feature engineering.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BC077327-AB3C-4C64-9BE5-663D7C41486D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Hai nhánh Gold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DDF51E15-61B8-4D69-BA46-4876EF0CF9CD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Analytics xây Star Schema; ML xây features → train → evaluate. Load PostgreSQL chờ hai nhánh hoàn tất.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BE9A9702-B4AF-4AFC-A9F3-7C2E74314FA2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Bằng chứng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EFCFDDD8-FC9F-484E-8547-6CA39936BE59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10 tasks xử lý + start/end = 12 tasks. Run ngày 02/10/2026 thành công, khoảng 11 phút 55 giây.</a:t>
            </a:r>
          </a:p>
        </p:txBody>
      </p:sp>
    </p:spTree>
    <p:extLst>
      <p:ext uri="{BB962C8B-B14F-4D97-AF65-F5344CB8AC3E}">
        <p14:creationId xmlns:p14="http://schemas.microsoft.com/office/powerpoint/2010/main" val="2002920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3061D39D-2530-4546-A078-B07D4672280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2E42D2DC-2E98-44A5-972B-8F38C37FEDB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Bronze → Silver: chuẩn hóa và Quality Gate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5ED453E0-41D3-46BF-B671-C20160E4487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D1CA8ABE-A128-4766-A4B5-2CEE5362643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08E42109-B162-45E3-A07E-B9C178510233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Parse &amp; normalize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1678DF1B-BDB4-47B2-88F1-ABE0B9507123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Explicit schema: trim IDs, cast ngày/số/boolean; InitCap merchant/state/provider; lowercase category.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E9EEDCD9-7497-417D-8A42-4E37C76435A4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Điều kiện PASS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6B9112C0-D2D2-4E01-A6B8-20C31C4F655C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JSON hợp lệ; ID/ngày/category bắt buộc; principal &gt; 0; rate ≥ 0; tenor/installments &gt; 0; score 300–850.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0FC5C04B-07ED-49C4-B3C2-94B40092FE99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Quarantine FAIL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CBD65F37-AE77-4E94-B3D3-CC88FA3860BC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Giữ raw JSON, validation errors, rejected time và source/batch/run để truy vết, không âm thầm bỏ record.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56DD1CB5-8DA8-4E3E-B5DA-FE6006F29467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Silver contract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70DC4989-0031-4AB8-8F45-A03D86675E81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15 trường nghiệp vụ + 5 metadata. first_payment_due còn ở raw; labels nullable cho hồ sơ inference chưa có kết quả thật.</a:t>
            </a:r>
          </a:p>
        </p:txBody>
      </p:sp>
    </p:spTree>
    <p:extLst>
      <p:ext uri="{BB962C8B-B14F-4D97-AF65-F5344CB8AC3E}">
        <p14:creationId xmlns:p14="http://schemas.microsoft.com/office/powerpoint/2010/main" val="1140142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BB38B592-E9B1-4A6B-8C67-38E6B021117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DEC8C5A-6F37-4E9D-992D-50127770E09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Silver: kháng lặp và kết quả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2DD7DF95-6524-435D-B12D-AFFDD614242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2F919B7-B186-49A4-B5C4-7E2FC0F128C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465E26A0-5250-4B5D-B96B-FECA6F2BB203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Business key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9AEDDDB9-761E-4D3D-83A6-0C292F9F9550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Delta MERGE theo transaction_id: matched update, unmatched insert. Không append mù khi chạy lại batch.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1B0F29DD-291C-41DE-98C4-0F04D3ADBCDB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Xử lý duplicate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52F91CE8-FE13-4BE4-9065-62F477EBB45E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Quality Gate đánh dấu ID trùng trong batch; helper dedup theo key trước MERGE để đảm bảo source tương thích.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F702B1BB-1310-4E33-8D4F-5732A1FDC8E9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Kết quả batch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45E29653-E130-474C-B7E1-F701D20D04AA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100.000 Silver rows; 100.000 transaction ID duy nhất; 0 duplicate trong bộ BNPL đã kiểm chứng.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8D2A0FCC-A938-496A-9ED5-9C511C17993A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Bằng chứng incremental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D3FFF1A7-712B-44AB-8FF6-7E03D731C917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Kiểm chứng lịch sử: từ 100K lên 110K → kết quả 110K, không phải 210K. Đây không phải row count mới của lake.</a:t>
            </a:r>
          </a:p>
        </p:txBody>
      </p:sp>
    </p:spTree>
    <p:extLst>
      <p:ext uri="{BB962C8B-B14F-4D97-AF65-F5344CB8AC3E}">
        <p14:creationId xmlns:p14="http://schemas.microsoft.com/office/powerpoint/2010/main" val="838395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1BD6BD52-4245-49FB-92DB-8AC6F956547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A3DFD285-E8FC-4043-A572-7253CE70068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Gold Shared: feature engineering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7AD64758-23EA-49B8-BBAF-E761B12AB1D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972F0605-F1D9-4480-BE46-B4C8CF1085A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EC74123-04C5-42CA-9B94-7F0CD23C9784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Nhóm tín dụng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83A4BBDE-D6BE-4FDB-A8DC-02A58C4F9700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Poor &lt;580; Fair &lt;670; Good &lt;740; Very Good &lt;800; còn lại Excellent. Loan size: Small &lt;₦50K, Medium &lt;₦200K, Large.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74B95CA9-34B7-430F-847A-92BFE6D65352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Features tài chính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457D83DF-F85B-4C36-AC6D-863D55E2A0D6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months = tenor_days / 30; interest = principal × monthly_rate × months; total = principal + interest; installment = total / số kỳ.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5EC9C811-6240-4EE5-A94F-7977241AA3E8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Features thời gian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34421AB8-8F92-4922-A0AA-23CBFD213F40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Tách month, quarter, day-of-week từ purchase date. Lãi là ước tính đơn giản, không phải lịch amortization đầy đủ.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56E1E920-3F08-4DF2-9CF0-A4DDC28BEB74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Output &amp; tái sử dụng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EBCF3994-1C53-4C50-99EF-819F60DA643D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100K enriched transactions, Delta MERGE theo transaction_id. Shared transform dùng cho batch training và live inference.</a:t>
            </a:r>
          </a:p>
        </p:txBody>
      </p:sp>
    </p:spTree>
    <p:extLst>
      <p:ext uri="{BB962C8B-B14F-4D97-AF65-F5344CB8AC3E}">
        <p14:creationId xmlns:p14="http://schemas.microsoft.com/office/powerpoint/2010/main" val="1738469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7D9B4260-C9E5-4087-9E30-22C57BA9C63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7E651F7C-2CC1-4F91-A168-28D90A87577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Gold Analytics: Star Schema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74CACB00-AE77-4497-B141-DAC5C9902D5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DAD4CA61-EE22-432D-BFBE-F8C4F0F0A10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Bảng 10"/>
          <p:cNvGraphicFramePr/>
          <p:nvPr/>
        </p:nvGraphicFramePr>
        <p:xfrm>
          <a:off x="609600" y="1790700"/>
          <a:ext cx="10972800" cy="360045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Bảng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 đã kiểm chứng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fact_bnpl_transaction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100.000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1 row / giao dịch, measures &amp; keys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dim_customer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92.862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Customer ID, first-time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dim_date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1.095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Ngày / tháng / quý / năm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dim_location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Bang / khu vực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dim_merchant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4.983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Merchant &amp; category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dim_provider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Nhà cung cấp BNPL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878C65E6-00A6-4A8B-A76A-84A9F1BCD6B2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Fact MERGE theo transaction_id; dimensions theo key. xxhash64 tạo key ổn định; date key dùng yyyyMMdd. Gold không chỉ là bảng aggregate.</a:t>
            </a:r>
          </a:p>
        </p:txBody>
      </p:sp>
    </p:spTree>
    <p:extLst>
      <p:ext uri="{BB962C8B-B14F-4D97-AF65-F5344CB8AC3E}">
        <p14:creationId xmlns:p14="http://schemas.microsoft.com/office/powerpoint/2010/main" val="505755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E375B72E-2D54-4412-8788-89EEB1CBF35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95CB4C7B-174D-44E2-A30D-853A66C1077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Gold ML: huấn luyện và chọn model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768D20CB-685C-4434-B838-C6310DC39B9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3AAFA3A6-2C74-4B2A-916A-646DD06FEA4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939C594D-6E4E-421C-81AE-78FB47594946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Feature dataset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675272A8-E0CB-4A7A-A210-DC35484DACF4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100K rows: numeric/categorical, engineered/date features, labels và provenance. randomSplit 80/20, seed 42.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6B01E113-C79A-49B5-A66E-9ED851C06B65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MLlib pipeline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C90AA937-7C34-47FA-AD7D-66A9755D100C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StringIndexer → OneHotEncoder → VectorAssembler → classifier. Test thực tế 19.825 rows mỗi horizon.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A06C0B13-F658-4E4B-8876-B373C63D172B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Sáu candidates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1342795D-0CDE-4EDA-8706-258ECF4134DF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Logistic Regression, Random Forest, GBT × default 30D / 90D. Model artifacts lưu HDFS, không lưu raw vào database.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EED03C05-7751-4607-BFBD-2E593A7261B8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Chọn champion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5AC3C525-E35B-4BE3-B56C-84005088EB37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Tính Accuracy, default Precision/Recall, weighted F1, ROC-AUC. Xếp Recall rồi AUC; chọn GBT cho cả hai horizon.</a:t>
            </a:r>
          </a:p>
        </p:txBody>
      </p:sp>
    </p:spTree>
    <p:extLst>
      <p:ext uri="{BB962C8B-B14F-4D97-AF65-F5344CB8AC3E}">
        <p14:creationId xmlns:p14="http://schemas.microsoft.com/office/powerpoint/2010/main" val="2011789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6DE86C4D-F31B-47B0-BF34-F38B4C410DB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3AE2137A-B6C4-47C1-84CF-5A3B5E29A0E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Kết quả ML và cách đọc metrics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9F87A206-DFEC-4DC9-87C6-942E4FF16DA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A591BBE3-685E-4F76-8DB4-9234E90AD52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1" name="Bảng 10"/>
          <p:cNvGraphicFramePr/>
          <p:nvPr/>
        </p:nvGraphicFramePr>
        <p:xfrm>
          <a:off x="609600" y="1790700"/>
          <a:ext cx="10972800" cy="17145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Champion / horizon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 default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GBT / 30D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0,9470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0,2484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0,9585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GBT / 90D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0,9515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0,3035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0,9362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9FDB7C62-4903-4449-BB77-D68E5B61FD16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Snapshot 02/10/2026. Accuracy cao không đồng nghĩa phát hiện tốt mọi trường hợp default: cần đọc cùng Recall và mất cân bằng nhãn.</a:t>
            </a:r>
          </a:p>
        </p:txBody>
      </p:sp>
    </p:spTree>
    <p:extLst>
      <p:ext uri="{BB962C8B-B14F-4D97-AF65-F5344CB8AC3E}">
        <p14:creationId xmlns:p14="http://schemas.microsoft.com/office/powerpoint/2010/main" val="731410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75D10075-1F46-48C7-B64C-9900C0F7540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A13AF4CA-3AC9-4C41-ADB6-183D80FDF1D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Gold được sử dụng như thế nào?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DA8861B2-8CF7-48D4-990A-5F70FE37CF6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C52653A2-2FE6-40B1-A817-EBCB24F5394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65889956-B5A3-4C56-9DC9-42C0A9B6C119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BI &amp; dashboard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D39FB3E5-D6DF-452C-BF21-746AC5441B88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Gold Analytics publish sang PostgreSQL Star Schema để phân tích giải ngân, default, provider/category/state và credit band.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3237DC21-33AF-40FA-ADAD-2507037C8773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Training / retraining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DF4F386B-C2A5-4268-9EA2-73CD8A54FE03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Gold ML features và labels dùng train/evaluate. Registry và saved models trên HDFS cấp model cho inference.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3CF18C79-4F66-49B9-AD8F-7CF62A3BA005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A353724E-46C8-45D0-9677-8872FF0E2E44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DQ metrics, model metrics và batch registry theo dõi chất lượng dữ liệu, trạng thái run và performance.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BB02836D-5569-4966-9084-176B6119F385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Publish idempotent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BC396BE7-1FE6-4D11-8832-BB3515A36871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JDBC ghi staging rồi SQL ON CONFLICT upsert. Loader hiện đọc toàn bộ từng serving table, chưa chỉ đọc changed rows.</a:t>
            </a:r>
          </a:p>
        </p:txBody>
      </p:sp>
    </p:spTree>
    <p:extLst>
      <p:ext uri="{BB962C8B-B14F-4D97-AF65-F5344CB8AC3E}">
        <p14:creationId xmlns:p14="http://schemas.microsoft.com/office/powerpoint/2010/main" val="1014639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EEFDA1E1-C538-406E-B3B5-BEE48ED3598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0DAF76B1-CC83-4C76-BFBA-8C67D6D7D5F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Streaming: nguồn sự kiện và Kafka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73C34F9D-5283-4DE5-9B36-C790CBE4AEE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CBEBF258-A46D-40B4-AACB-102C4D513A1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47304FF2-0BD3-48B2-A580-B8089DBF23E9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Nguồn event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0AF6E761-0104-40B1-94F1-8C9CF3E4313D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Fake producer mặc định 2 events/giây, seed 42; form Streamlit gửi hồ sơ tương tác vào cùng topic.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AE757630-C365-46A8-8EF7-D8BFC2373962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Dữ liệu thử nghiệm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D5856D1-9C81-433A-BCB8-1888BE6C2AAE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Principal ₦5K–₦500K; score 300–850; rate 0–0,05. Khoảng 2% lỗi chủ đích để demo Quality Gate.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61F63EDE-2FD9-4103-9455-1BE2C88A4697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Kafka KRaft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BE93CC2D-4CE1-4EEC-975B-694707612C1D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Kafka 3.9.1: một broker/controller, không Zookeeper; topic bnpl.transactions.raw có 1 partition và replication factor 1.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E76AC543-7E13-470B-A471-5C84C9C27D7A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Phân biệt replication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5432E1BF-F790-4545-A16C-B1FF2D398FBD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Kafka replication 1 độc lập với HDFS replication 3. Live events chưa có default labels nên phục vụ inference, không tự train.</a:t>
            </a:r>
          </a:p>
        </p:txBody>
      </p:sp>
    </p:spTree>
    <p:extLst>
      <p:ext uri="{BB962C8B-B14F-4D97-AF65-F5344CB8AC3E}">
        <p14:creationId xmlns:p14="http://schemas.microsoft.com/office/powerpoint/2010/main" val="1750031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E04DD1C2-076E-4719-92F9-F0398819FBD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418952FF-793E-48A8-8123-BED289CD2EC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Kafka → Bronze: Structured Streaming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A7DF1178-4702-4A59-AE60-30C1C065740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C0AAE066-11B7-46F4-8C81-A56EF77A707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F7DDA0F4-6BB7-49D4-844D-CC753D16FEE3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2A838C4F-18C1-4ADA-B149-F8DE7E58C42F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readStream.format("kafka"); query mới đọc earliest, query có checkpoint resume progress trước đó.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DA6F813C-A0D4-4D95-9ABE-EE9056DAE99E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Raw &amp; metadata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4D0E00C6-EEE7-40D9-80A4-F6A6A208A75F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Giữ value JSON, topic, partition, offset, Kafka timestamp; parse explicit schema và đánh dấu schema_parse_ok.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66C40D89-3DC2-45B1-849F-BC3F45D4856A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Parquet partition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514C3891-384E-4607-968C-9B9A766D0EE2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Append HDFS Bronze theo event_date / event_hour từ Kafka timestamp, fallback ingestion time; không nhất thiết purchase date.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F7452177-95B0-4D86-A2FD-E0DA63FC38E2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Micro-batch &amp; checkpoint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BBDFD471-0BCD-46A7-8DE5-4BCE0E276A9A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Trigger 10 giây, checkpoint HDFS. failOnDataLoss=false: không tuyên bố bảo đảm không mất event khi Kafka offsets bị mất.</a:t>
            </a:r>
          </a:p>
        </p:txBody>
      </p:sp>
    </p:spTree>
    <p:extLst>
      <p:ext uri="{BB962C8B-B14F-4D97-AF65-F5344CB8AC3E}">
        <p14:creationId xmlns:p14="http://schemas.microsoft.com/office/powerpoint/2010/main" val="1842305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9B957D50-1556-43A0-B08C-8EA34E764DE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5656CB16-570C-4975-95AF-74EBAFB250A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Bronze → Prediction: inference thời gian gần thực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51D169AB-0A34-4740-81FD-FEF4D600A77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B5CFCE72-1707-4C3A-BBB7-EF42AB69387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5622D865-E5EF-4FBC-936A-254BADE01149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Đọc files mới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C9A02EF0-97C1-4C28-8E00-8D15C05B3CD9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Predictor đọc stream từ Bronze, không đọc trực tiếp Kafka. Load registry và hai PipelineModels tại startup.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A96C7D05-E6F5-4167-A2B0-157B7E17FF42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Quality &amp; features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C99AA46D-E800-40A5-A699-6BE077B160F9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Micro-batch 10 giây: FAIL vào quarantine; PASS chuẩn hóa và dùng shared features như khi training.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30588E21-A9F6-419F-9418-4676F6E0E57E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Hai dự báo / hồ sơ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D2AA39C9-22D7-4177-9DDE-20FFD034A766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Model 30D và 90D tạo default probability, predicted class, model/version, risk level và timestamps.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105AFA9D-66DB-42F3-A651-196091773E9E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Luồng thực tế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74FD6617-B682-4534-9C8F-FCEC8E639D3A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Live path dùng validated/features tạm → inference → PostgreSQL; chưa materialize Silver/Gold cho từng event. Đổi model cần restart.</a:t>
            </a:r>
          </a:p>
        </p:txBody>
      </p:sp>
    </p:spTree>
    <p:extLst>
      <p:ext uri="{BB962C8B-B14F-4D97-AF65-F5344CB8AC3E}">
        <p14:creationId xmlns:p14="http://schemas.microsoft.com/office/powerpoint/2010/main" val="1449529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1F40B585-DC0A-4223-A411-5AF5108B324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A6C7E8C7-FC82-4304-9A78-0D7DA17EC04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Prediction: kháng lặp, risk và latency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65C256A4-DCD2-439D-9424-6A15A896298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EBE52BEE-3A1D-4AB9-9158-068B5E213C1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F0C4F9C3-1F18-42F7-97B0-13983FC6C329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Khóa upsert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01958D1A-D1EF-4542-93EE-55172B128EA4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(transaction_id, model_name, model_version, prediction_horizon). Replay cập nhật row hiện có, hạn chế duplicate predictions.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3D481738-9986-434D-89F2-E0A6ED38AED6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Risk bands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C0FD9E9B-05A5-4338-A1D3-EAF0C2825249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LOW &lt;0,4; MEDIUM 0,4–&lt;0,7; HIGH ≥0,7. Risk rule theo probability khác predicted_default của classifier.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4FEB3BCC-44EE-484B-92F3-0B1A9961DB80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Latency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9F833668-E86E-481E-98A3-B85C473C5949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Hai triggers 10 giây + compute / I/O / database / backlog; không có cam kết end-to-end trong 10 giây.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A800B273-4509-4505-8CA6-3B2800F6C67C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3CD2C7AC-DE38-46E2-995A-FB7217F99940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Checkpoint + upsert hỗ trợ resume/idempotency. Rejected append có thể lặp khi replay; không gọi toàn pipeline exactly-once.</a:t>
            </a:r>
          </a:p>
        </p:txBody>
      </p:sp>
    </p:spTree>
    <p:extLst>
      <p:ext uri="{BB962C8B-B14F-4D97-AF65-F5344CB8AC3E}">
        <p14:creationId xmlns:p14="http://schemas.microsoft.com/office/powerpoint/2010/main" val="1412358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27B9F491-4B4B-4F91-BDCD-E1D49C6E728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20E47F81-F0BF-42D5-A3A4-6597E242779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Batch và Streaming: hai vai trò bổ sung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51914569-C110-4973-B0EF-2168DB1705A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35156987-7A31-4D40-B170-DB5AC25FD5B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11" name="Bảng 10"/>
          <p:cNvGraphicFramePr/>
          <p:nvPr/>
        </p:nvGraphicFramePr>
        <p:xfrm>
          <a:off x="609600" y="1790700"/>
          <a:ext cx="10972800" cy="34290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Tiêu chí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Batch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Streaming</a:t>
                      </a:r>
                    </a:p>
                  </a:txBody>
                  <a:tcPr marL="133350" marR="133350" marT="85725" marB="85725">
                    <a:solidFill>
                      <a:srgbClr val="17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Nguồn / vòng đời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Hugging Face hữu hạn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Kafka events liên tục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Điều phối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Airflow trigger thủ công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Compose long-running jobs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ML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Train / evaluate có labels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Score bằng saved models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Lake processing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Silver / Gold Delta materialized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Bronze + features tạm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Output / retry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Star Schema / model; MERGE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34D"/>
                          </a:solidFill>
                          <a:latin typeface="Arial"/>
                          <a:ea typeface="Arial"/>
                          <a:cs typeface="Arial"/>
                        </a:rPr>
                        <a:t>Predictions; checkpoint + upsert</a:t>
                      </a:r>
                    </a:p>
                  </a:txBody>
                  <a:tcPr marL="133350" marR="133350" marT="85725" marB="85725"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72716D53-B896-4002-831E-B0F0DB08658A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HF streaming=True chỉ là cách đọc nguồn cho batch. Generator 10M offline khác producer realtime.</a:t>
            </a:r>
          </a:p>
        </p:txBody>
      </p:sp>
    </p:spTree>
    <p:extLst>
      <p:ext uri="{BB962C8B-B14F-4D97-AF65-F5344CB8AC3E}">
        <p14:creationId xmlns:p14="http://schemas.microsoft.com/office/powerpoint/2010/main" val="274742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C25D714E-72B9-451F-917E-595DE27D7B2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578CFD12-73B2-46AB-8CD7-3F8E03A94BE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Demo thuyết trình và tổng kết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A897853E-5742-455C-BB72-07373832626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HDFS • Spark • Delta Lake • Kafka • Airflow • PostgreSQL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D55B914-1F6C-4470-8119-DEAACCC2D1C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A90F5FF7-7BCF-49B8-B91B-FBED19932B1F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Bước 1 — Lake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89C7B771-5204-4C20-81A0-4967F5C198E0}"/>
              </a:ext>
            </a:extLst>
          </p:cNvPr>
          <p:cNvSpPr>
            <a:spLocks noGrp="1"/>
          </p:cNvSpPr>
          <p:nvPr/>
        </p:nvSpPr>
        <p:spPr>
          <a:xfrm>
            <a:off x="3752850" y="17907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Show 3 live DataNodes, replication 3 và FSCK healthy; trình bày raw 100K / nguồn và generated Bronze 10M.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B76F5DAD-3470-4A9D-B12F-D76559A9C72A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Bước 2 — Batch &amp; Gold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C7068943-7495-44C8-A767-CFCEF21D68F1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Show DAG 12 tasks, Silver unique IDs, Star Schema, features và champion metrics; giải thích dữ liệu synthetic.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3AC3A802-933D-4B81-B1A0-EE3BA6FF344E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Bước 3 — Inference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0CBE7C9F-6ED7-44FA-A8AF-03C2817BC880}"/>
              </a:ext>
            </a:extLst>
          </p:cNvPr>
          <p:cNvSpPr>
            <a:spLocks noGrp="1"/>
          </p:cNvSpPr>
          <p:nvPr/>
        </p:nvSpPr>
        <p:spPr>
          <a:xfrm>
            <a:off x="3752850" y="39243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Nhập hồ sơ ở Live Prediction → Kafka → Bronze → model → xem hai horizon. Kiểm tra services/model trước buổi demo.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0A4F57BF-D18E-416A-B463-4D3E01A3AC85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4E7BA229-2FB3-4740-92A8-347C38EEE5E6}"/>
              </a:ext>
            </a:extLst>
          </p:cNvPr>
          <p:cNvSpPr>
            <a:spLocks noGrp="1"/>
          </p:cNvSpPr>
          <p:nvPr/>
        </p:nvSpPr>
        <p:spPr>
          <a:xfrm>
            <a:off x="3752850" y="4991100"/>
            <a:ext cx="78295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Một lake HDFS, hai luồng Spark, Gold cho BI/ML và PostgreSQL serving. Khuyến nghị Docker 10–12GB RAM cho full stack.</a:t>
            </a:r>
          </a:p>
        </p:txBody>
      </p:sp>
    </p:spTree>
    <p:extLst>
      <p:ext uri="{BB962C8B-B14F-4D97-AF65-F5344CB8AC3E}">
        <p14:creationId xmlns:p14="http://schemas.microsoft.com/office/powerpoint/2010/main" val="7858889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4970</Words>
  <Application>Microsoft Office PowerPoint</Application>
  <DocSecurity>0</DocSecurity>
  <PresentationFormat>Màn hình rộng</PresentationFormat>
  <Paragraphs>443</Paragraphs>
  <Slides>26</Slides>
  <Notes>26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26</vt:i4>
      </vt:variant>
    </vt:vector>
  </HeadingPairs>
  <TitlesOfParts>
    <vt:vector size="29" baseType="lpstr">
      <vt:lpstr>Arial</vt:lpstr>
      <vt:lpstr>Calibri</vt:lpstr>
      <vt:lpstr>ChatGPT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Phạm Trường Chinh</cp:lastModifiedBy>
  <cp:revision>2</cp:revision>
  <dcterms:created xsi:type="dcterms:W3CDTF">2026-10-03T04:08:34Z</dcterms:created>
  <dcterms:modified xsi:type="dcterms:W3CDTF">2026-10-03T07:37:24Z</dcterms:modified>
</cp:coreProperties>
</file>